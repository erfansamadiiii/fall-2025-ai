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08"/>
    <p:restoredTop sz="94635"/>
  </p:normalViewPr>
  <p:slideViewPr>
    <p:cSldViewPr snapToGrid="0">
      <p:cViewPr varScale="1">
        <p:scale>
          <a:sx n="120" d="100"/>
          <a:sy n="120" d="100"/>
        </p:scale>
        <p:origin x="3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10/22/25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10/22/25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10/22/25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10/22/25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10/22/25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10/22/25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10/22/25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10/22/25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10/22/25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5A32-2116-7B67-29D3-6F0C3E093DAA}"/>
              </a:ext>
            </a:extLst>
          </p:cNvPr>
          <p:cNvSpPr>
            <a:spLocks noGrp="1"/>
          </p:cNvSpPr>
          <p:nvPr>
            <p:ph type="ctrTitle"/>
          </p:nvPr>
        </p:nvSpPr>
        <p:spPr/>
        <p:txBody>
          <a:bodyPr/>
          <a:lstStyle/>
          <a:p>
            <a:r>
              <a:rPr lang="en-US" dirty="0"/>
              <a:t>Multiple Linear regression</a:t>
            </a:r>
          </a:p>
        </p:txBody>
      </p:sp>
      <p:sp>
        <p:nvSpPr>
          <p:cNvPr id="3" name="Subtitle 2">
            <a:extLst>
              <a:ext uri="{FF2B5EF4-FFF2-40B4-BE49-F238E27FC236}">
                <a16:creationId xmlns:a16="http://schemas.microsoft.com/office/drawing/2014/main" id="{5C591415-7B16-A61C-DC85-D36ACE203221}"/>
              </a:ext>
            </a:extLst>
          </p:cNvPr>
          <p:cNvSpPr>
            <a:spLocks noGrp="1"/>
          </p:cNvSpPr>
          <p:nvPr>
            <p:ph type="subTitle" idx="1"/>
          </p:nvPr>
        </p:nvSpPr>
        <p:spPr/>
        <p:txBody>
          <a:bodyPr/>
          <a:lstStyle/>
          <a:p>
            <a:r>
              <a:rPr lang="en-US" b="1" dirty="0"/>
              <a:t>Machine Learning</a:t>
            </a:r>
          </a:p>
          <a:p>
            <a:r>
              <a:rPr lang="en-US" b="1" dirty="0"/>
              <a:t>By SMBH</a:t>
            </a:r>
            <a:endParaRPr lang="fa-IR" b="1" dirty="0"/>
          </a:p>
        </p:txBody>
      </p:sp>
    </p:spTree>
    <p:extLst>
      <p:ext uri="{BB962C8B-B14F-4D97-AF65-F5344CB8AC3E}">
        <p14:creationId xmlns:p14="http://schemas.microsoft.com/office/powerpoint/2010/main" val="396970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8F4F0-40E4-63C1-7E17-1F8A587A7B6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39D89F9-14EB-893D-C232-12A0EAA95B29}"/>
              </a:ext>
            </a:extLst>
          </p:cNvPr>
          <p:cNvSpPr>
            <a:spLocks noGrp="1"/>
          </p:cNvSpPr>
          <p:nvPr>
            <p:ph type="subTitle" idx="1"/>
          </p:nvPr>
        </p:nvSpPr>
        <p:spPr>
          <a:xfrm>
            <a:off x="1318438" y="1616149"/>
            <a:ext cx="9590568" cy="3997842"/>
          </a:xfrm>
        </p:spPr>
        <p:txBody>
          <a:bodyPr>
            <a:normAutofit/>
          </a:bodyPr>
          <a:lstStyle/>
          <a:p>
            <a:pPr algn="r" rtl="1"/>
            <a:r>
              <a:rPr lang="fa-IR" dirty="0">
                <a:cs typeface="Al Bayan Plain" pitchFamily="2" charset="-78"/>
              </a:rPr>
              <a:t>یکی از </a:t>
            </a:r>
            <a:r>
              <a:rPr lang="fa-IR" dirty="0" err="1">
                <a:cs typeface="Al Bayan Plain" pitchFamily="2" charset="-78"/>
              </a:rPr>
              <a:t>روش‌های</a:t>
            </a:r>
            <a:r>
              <a:rPr lang="fa-IR" dirty="0">
                <a:cs typeface="Al Bayan Plain" pitchFamily="2" charset="-78"/>
              </a:rPr>
              <a:t> مرسوم در تحلیل چند </a:t>
            </a:r>
            <a:r>
              <a:rPr lang="fa-IR" dirty="0" err="1">
                <a:cs typeface="Al Bayan Plain" pitchFamily="2" charset="-78"/>
              </a:rPr>
              <a:t>متغیره</a:t>
            </a:r>
            <a:r>
              <a:rPr lang="fa-IR" dirty="0">
                <a:cs typeface="Al Bayan Plain" pitchFamily="2" charset="-78"/>
              </a:rPr>
              <a:t>، تکنیک «</a:t>
            </a:r>
            <a:r>
              <a:rPr lang="fa-IR" dirty="0" err="1">
                <a:cs typeface="Al Bayan Plain" pitchFamily="2" charset="-78"/>
              </a:rPr>
              <a:t>رگرسیون</a:t>
            </a:r>
            <a:r>
              <a:rPr lang="fa-IR" dirty="0">
                <a:cs typeface="Al Bayan Plain" pitchFamily="2" charset="-78"/>
              </a:rPr>
              <a:t> خطی </a:t>
            </a:r>
            <a:r>
              <a:rPr lang="fa-IR" dirty="0" err="1">
                <a:cs typeface="Al Bayan Plain" pitchFamily="2" charset="-78"/>
              </a:rPr>
              <a:t>چندگانه</a:t>
            </a:r>
            <a:r>
              <a:rPr lang="fa-IR" dirty="0">
                <a:cs typeface="Al Bayan Plain" pitchFamily="2" charset="-78"/>
              </a:rPr>
              <a:t>» </a:t>
            </a:r>
            <a:r>
              <a:rPr lang="fa-IR" dirty="0">
                <a:cs typeface="Al Bayan Plain" pitchFamily="2" charset="-78"/>
              </a:rPr>
              <a:t>است. بر اساس تحلیل </a:t>
            </a:r>
            <a:r>
              <a:rPr lang="fa-IR" dirty="0" err="1">
                <a:cs typeface="Al Bayan Plain" pitchFamily="2" charset="-78"/>
              </a:rPr>
              <a:t>رگرسیونی</a:t>
            </a:r>
            <a:r>
              <a:rPr lang="fa-IR" dirty="0">
                <a:cs typeface="Al Bayan Plain" pitchFamily="2" charset="-78"/>
              </a:rPr>
              <a:t>، یک رابطه خطی بین «متغیر پاسخ» با یک یا چند «متغیر توصیفی» برقرار </a:t>
            </a:r>
            <a:r>
              <a:rPr lang="fa-IR" dirty="0" err="1">
                <a:cs typeface="Al Bayan Plain" pitchFamily="2" charset="-78"/>
              </a:rPr>
              <a:t>می‌شود</a:t>
            </a:r>
            <a:r>
              <a:rPr lang="fa-IR" dirty="0">
                <a:cs typeface="Al Bayan Plain" pitchFamily="2" charset="-78"/>
              </a:rPr>
              <a:t>. به متغیر پاسخ، «متغیر وابسته» و به متغیرهای توصیفی، «متغیرهای مستقل»</a:t>
            </a:r>
            <a:r>
              <a:rPr lang="en-GB" dirty="0">
                <a:cs typeface="Al Bayan Plain" pitchFamily="2" charset="-78"/>
              </a:rPr>
              <a:t> </a:t>
            </a:r>
            <a:r>
              <a:rPr lang="fa-IR" dirty="0">
                <a:cs typeface="Al Bayan Plain" pitchFamily="2" charset="-78"/>
              </a:rPr>
              <a:t> نیز </a:t>
            </a:r>
            <a:r>
              <a:rPr lang="fa-IR" dirty="0" err="1">
                <a:cs typeface="Al Bayan Plain" pitchFamily="2" charset="-78"/>
              </a:rPr>
              <a:t>می‌گویند</a:t>
            </a:r>
            <a:r>
              <a:rPr lang="fa-IR" dirty="0">
                <a:cs typeface="Al Bayan Plain" pitchFamily="2" charset="-78"/>
              </a:rPr>
              <a:t>.</a:t>
            </a:r>
          </a:p>
          <a:p>
            <a:pPr algn="r" rtl="1"/>
            <a:endParaRPr lang="fa-IR" dirty="0">
              <a:cs typeface="Al Bayan Plain" pitchFamily="2" charset="-78"/>
            </a:endParaRPr>
          </a:p>
          <a:p>
            <a:pPr algn="r" rtl="1"/>
            <a:r>
              <a:rPr lang="fa-IR" dirty="0">
                <a:cs typeface="Al Bayan Plain" pitchFamily="2" charset="-78"/>
              </a:rPr>
              <a:t>در </a:t>
            </a:r>
            <a:r>
              <a:rPr lang="fa-IR" dirty="0" err="1">
                <a:cs typeface="Al Bayan Plain" pitchFamily="2" charset="-78"/>
              </a:rPr>
              <a:t>رگرسیون</a:t>
            </a:r>
            <a:r>
              <a:rPr lang="fa-IR" dirty="0">
                <a:cs typeface="Al Bayan Plain" pitchFamily="2" charset="-78"/>
              </a:rPr>
              <a:t> خطی </a:t>
            </a:r>
            <a:r>
              <a:rPr lang="fa-IR" dirty="0" err="1">
                <a:cs typeface="Al Bayan Plain" pitchFamily="2" charset="-78"/>
              </a:rPr>
              <a:t>چندگانه</a:t>
            </a:r>
            <a:r>
              <a:rPr lang="fa-IR" dirty="0">
                <a:cs typeface="Al Bayan Plain" pitchFamily="2" charset="-78"/>
              </a:rPr>
              <a:t>، پارامترهای یک مدل خطی به کمک یک </a:t>
            </a:r>
            <a:r>
              <a:rPr lang="fa-IR" dirty="0">
                <a:highlight>
                  <a:srgbClr val="FFFF00"/>
                </a:highlight>
                <a:cs typeface="Al Bayan Plain" pitchFamily="2" charset="-78"/>
              </a:rPr>
              <a:t>تابع هدف </a:t>
            </a:r>
            <a:r>
              <a:rPr lang="fa-IR" dirty="0">
                <a:cs typeface="Al Bayan Plain" pitchFamily="2" charset="-78"/>
              </a:rPr>
              <a:t>و </a:t>
            </a:r>
            <a:r>
              <a:rPr lang="fa-IR" dirty="0">
                <a:highlight>
                  <a:srgbClr val="FFFF00"/>
                </a:highlight>
                <a:cs typeface="Al Bayan Plain" pitchFamily="2" charset="-78"/>
              </a:rPr>
              <a:t>مقدارهای </a:t>
            </a:r>
            <a:r>
              <a:rPr lang="fa-IR" dirty="0" err="1">
                <a:highlight>
                  <a:srgbClr val="FFFF00"/>
                </a:highlight>
                <a:cs typeface="Al Bayan Plain" pitchFamily="2" charset="-78"/>
              </a:rPr>
              <a:t>متغیرها</a:t>
            </a:r>
            <a:r>
              <a:rPr lang="fa-IR" dirty="0">
                <a:cs typeface="Al Bayan Plain" pitchFamily="2" charset="-78"/>
              </a:rPr>
              <a:t>، برآورد </a:t>
            </a:r>
            <a:r>
              <a:rPr lang="fa-IR" dirty="0" err="1">
                <a:cs typeface="Al Bayan Plain" pitchFamily="2" charset="-78"/>
              </a:rPr>
              <a:t>می‌شوند</a:t>
            </a:r>
            <a:r>
              <a:rPr lang="fa-IR" dirty="0">
                <a:cs typeface="Al Bayan Plain" pitchFamily="2" charset="-78"/>
              </a:rPr>
              <a:t>. در </a:t>
            </a:r>
            <a:r>
              <a:rPr lang="fa-IR" dirty="0" err="1">
                <a:cs typeface="Al Bayan Plain" pitchFamily="2" charset="-78"/>
              </a:rPr>
              <a:t>رگرسیون</a:t>
            </a:r>
            <a:r>
              <a:rPr lang="fa-IR" dirty="0">
                <a:cs typeface="Al Bayan Plain" pitchFamily="2" charset="-78"/>
              </a:rPr>
              <a:t> خطی، مدل در نظر گرفته شده، یک رابطه خطی برحسب پارامترهای مدل است.</a:t>
            </a:r>
          </a:p>
          <a:p>
            <a:pPr algn="r" rtl="1"/>
            <a:br>
              <a:rPr lang="fa-IR" dirty="0">
                <a:cs typeface="Al Bayan Plain" pitchFamily="2" charset="-78"/>
              </a:rPr>
            </a:br>
            <a:endParaRPr lang="en-US" sz="2800" dirty="0">
              <a:latin typeface="Verdana" panose="020B0604030504040204" pitchFamily="34" charset="0"/>
              <a:ea typeface="Verdana" panose="020B0604030504040204" pitchFamily="34" charset="0"/>
              <a:cs typeface="Al Bayan Plain" pitchFamily="2" charset="-78"/>
            </a:endParaRPr>
          </a:p>
        </p:txBody>
      </p:sp>
    </p:spTree>
    <p:extLst>
      <p:ext uri="{BB962C8B-B14F-4D97-AF65-F5344CB8AC3E}">
        <p14:creationId xmlns:p14="http://schemas.microsoft.com/office/powerpoint/2010/main" val="3804149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5D682-33BD-88DE-CD61-57547B2085E6}"/>
            </a:ext>
          </a:extLst>
        </p:cNvPr>
        <p:cNvGrpSpPr/>
        <p:nvPr/>
      </p:nvGrpSpPr>
      <p:grpSpPr>
        <a:xfrm>
          <a:off x="0" y="0"/>
          <a:ext cx="0" cy="0"/>
          <a:chOff x="0" y="0"/>
          <a:chExt cx="0" cy="0"/>
        </a:xfrm>
      </p:grpSpPr>
      <p:pic>
        <p:nvPicPr>
          <p:cNvPr id="2" name="Picture 2" descr="رگرسیون خطی چندگانه (Multiple Linear Regression) – به زبان ساده">
            <a:extLst>
              <a:ext uri="{FF2B5EF4-FFF2-40B4-BE49-F238E27FC236}">
                <a16:creationId xmlns:a16="http://schemas.microsoft.com/office/drawing/2014/main" id="{C0A79F82-C978-37B4-4B1F-679C55F45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886" y="1158518"/>
            <a:ext cx="7526227" cy="45409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7A5A78C-A465-47A2-FD3B-C3795261C7CA}"/>
              </a:ext>
            </a:extLst>
          </p:cNvPr>
          <p:cNvPicPr>
            <a:picLocks noChangeAspect="1"/>
          </p:cNvPicPr>
          <p:nvPr/>
        </p:nvPicPr>
        <p:blipFill>
          <a:blip r:embed="rId3"/>
          <a:stretch>
            <a:fillRect/>
          </a:stretch>
        </p:blipFill>
        <p:spPr>
          <a:xfrm>
            <a:off x="1407780" y="5699482"/>
            <a:ext cx="6718300" cy="838200"/>
          </a:xfrm>
          <a:prstGeom prst="rect">
            <a:avLst/>
          </a:prstGeom>
        </p:spPr>
      </p:pic>
    </p:spTree>
    <p:extLst>
      <p:ext uri="{BB962C8B-B14F-4D97-AF65-F5344CB8AC3E}">
        <p14:creationId xmlns:p14="http://schemas.microsoft.com/office/powerpoint/2010/main" val="2905535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30A8A-539D-A670-9430-2F14F901818A}"/>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7ABCFFD6-6FC9-FC81-25FB-AF52EDBBCA77}"/>
              </a:ext>
            </a:extLst>
          </p:cNvPr>
          <p:cNvSpPr txBox="1">
            <a:spLocks noGrp="1"/>
          </p:cNvSpPr>
          <p:nvPr>
            <p:ph type="subTitle" idx="1"/>
          </p:nvPr>
        </p:nvSpPr>
        <p:spPr>
          <a:xfrm>
            <a:off x="1285875" y="1254125"/>
            <a:ext cx="9559925" cy="1677895"/>
          </a:xfrm>
          <a:prstGeom prst="rect">
            <a:avLst/>
          </a:prstGeom>
          <a:noFill/>
        </p:spPr>
        <p:txBody>
          <a:bodyPr wrap="square">
            <a:spAutoFit/>
          </a:bodyPr>
          <a:lstStyle/>
          <a:p>
            <a:pPr algn="r" rtl="1"/>
            <a:r>
              <a:rPr lang="fa-IR" dirty="0">
                <a:cs typeface="Al Bayan Plain" pitchFamily="2" charset="-78"/>
              </a:rPr>
              <a:t>در </a:t>
            </a:r>
            <a:r>
              <a:rPr lang="fa-IR" dirty="0" err="1">
                <a:cs typeface="Al Bayan Plain" pitchFamily="2" charset="-78"/>
              </a:rPr>
              <a:t>رگرسیون</a:t>
            </a:r>
            <a:r>
              <a:rPr lang="fa-IR" dirty="0">
                <a:cs typeface="Al Bayan Plain" pitchFamily="2" charset="-78"/>
              </a:rPr>
              <a:t> خطی ساده، رابطه بین متغیر مستقل و وابسته به صورت معادله یک خط بیان </a:t>
            </a:r>
            <a:r>
              <a:rPr lang="fa-IR" dirty="0" err="1">
                <a:cs typeface="Al Bayan Plain" pitchFamily="2" charset="-78"/>
              </a:rPr>
              <a:t>می‌شود</a:t>
            </a:r>
            <a:r>
              <a:rPr lang="fa-IR" dirty="0">
                <a:cs typeface="Al Bayan Plain" pitchFamily="2" charset="-78"/>
              </a:rPr>
              <a:t>. در </a:t>
            </a:r>
            <a:r>
              <a:rPr lang="fa-IR" dirty="0" err="1">
                <a:cs typeface="Al Bayan Plain" pitchFamily="2" charset="-78"/>
              </a:rPr>
              <a:t>رگرسیون</a:t>
            </a:r>
            <a:r>
              <a:rPr lang="fa-IR" dirty="0">
                <a:cs typeface="Al Bayan Plain" pitchFamily="2" charset="-78"/>
              </a:rPr>
              <a:t> </a:t>
            </a:r>
            <a:r>
              <a:rPr lang="fa-IR" dirty="0" err="1">
                <a:cs typeface="Al Bayan Plain" pitchFamily="2" charset="-78"/>
              </a:rPr>
              <a:t>چندگانه</a:t>
            </a:r>
            <a:r>
              <a:rPr lang="fa-IR" dirty="0">
                <a:cs typeface="Al Bayan Plain" pitchFamily="2" charset="-78"/>
              </a:rPr>
              <a:t>، اگر دو متغیر مستقل با یک متغیر وابسته در رابطه خطی باشند، شکل این رابطه به صورت یک صفحه در خواهد آمد. در صورتی که بیش از دو متغیر مستقل در مدل </a:t>
            </a:r>
            <a:r>
              <a:rPr lang="fa-IR" dirty="0" err="1">
                <a:cs typeface="Al Bayan Plain" pitchFamily="2" charset="-78"/>
              </a:rPr>
              <a:t>رگرسیون</a:t>
            </a:r>
            <a:r>
              <a:rPr lang="fa-IR" dirty="0">
                <a:cs typeface="Al Bayan Plain" pitchFamily="2" charset="-78"/>
              </a:rPr>
              <a:t> خطی به کار روند، مدل به شکل یک «</a:t>
            </a:r>
            <a:r>
              <a:rPr lang="fa-IR" dirty="0" err="1">
                <a:cs typeface="Al Bayan Plain" pitchFamily="2" charset="-78"/>
              </a:rPr>
              <a:t>ابرصفحه</a:t>
            </a:r>
            <a:r>
              <a:rPr lang="fa-IR" dirty="0">
                <a:cs typeface="Al Bayan Plain" pitchFamily="2" charset="-78"/>
              </a:rPr>
              <a:t>» </a:t>
            </a:r>
            <a:r>
              <a:rPr lang="en-GB" dirty="0">
                <a:cs typeface="Al Bayan Plain" pitchFamily="2" charset="-78"/>
              </a:rPr>
              <a:t>Hyperplane plane </a:t>
            </a:r>
            <a:r>
              <a:rPr lang="fa-IR" dirty="0">
                <a:cs typeface="Al Bayan Plain" pitchFamily="2" charset="-78"/>
              </a:rPr>
              <a:t>ظاهر </a:t>
            </a:r>
            <a:r>
              <a:rPr lang="fa-IR" dirty="0" err="1">
                <a:cs typeface="Al Bayan Plain" pitchFamily="2" charset="-78"/>
              </a:rPr>
              <a:t>می‌شود</a:t>
            </a:r>
            <a:r>
              <a:rPr lang="fa-IR" dirty="0">
                <a:cs typeface="Al Bayan Plain" pitchFamily="2" charset="-78"/>
              </a:rPr>
              <a:t>.</a:t>
            </a:r>
            <a:endParaRPr lang="fa-IR" dirty="0">
              <a:cs typeface="Al Bayan Plain" pitchFamily="2" charset="-78"/>
            </a:endParaRPr>
          </a:p>
        </p:txBody>
      </p:sp>
      <p:pic>
        <p:nvPicPr>
          <p:cNvPr id="3074" name="Picture 2" descr="multiple_regression_representation_hyperplane">
            <a:extLst>
              <a:ext uri="{FF2B5EF4-FFF2-40B4-BE49-F238E27FC236}">
                <a16:creationId xmlns:a16="http://schemas.microsoft.com/office/drawing/2014/main" id="{C4DB6CDD-B50C-11F0-48EF-55600AFC4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665" y="2660799"/>
            <a:ext cx="3618023" cy="3755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41013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155</TotalTime>
  <Words>183</Words>
  <Application>Microsoft Macintosh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AL BAYAN PLAIN</vt:lpstr>
      <vt:lpstr>AL BAYAN PLAIN</vt:lpstr>
      <vt:lpstr>Arial</vt:lpstr>
      <vt:lpstr>Franklin Gothic Book</vt:lpstr>
      <vt:lpstr>Verdana</vt:lpstr>
      <vt:lpstr>Crop</vt:lpstr>
      <vt:lpstr>Multiple Linear regression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SMB H</dc:creator>
  <cp:lastModifiedBy>SMB H</cp:lastModifiedBy>
  <cp:revision>6</cp:revision>
  <dcterms:created xsi:type="dcterms:W3CDTF">2025-10-15T17:14:44Z</dcterms:created>
  <dcterms:modified xsi:type="dcterms:W3CDTF">2025-10-22T15:26:17Z</dcterms:modified>
</cp:coreProperties>
</file>