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71" r:id="rId11"/>
    <p:sldId id="273" r:id="rId12"/>
    <p:sldId id="274" r:id="rId13"/>
    <p:sldId id="275" r:id="rId14"/>
    <p:sldId id="276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23"/>
    <p:restoredTop sz="94635"/>
  </p:normalViewPr>
  <p:slideViewPr>
    <p:cSldViewPr snapToGrid="0">
      <p:cViewPr varScale="1">
        <p:scale>
          <a:sx n="120" d="100"/>
          <a:sy n="120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10/15/25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aradars.org/courses/simple-linear-regression-fvst9904s01?utm_source=blog.faradars&amp;utm_medium=referral-post&amp;utm_campaign=related-courses-inline-5&amp;utm_term=m.khalilollahi&amp;utm_content=artificial-intelligence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5A32-2116-7B67-29D3-6F0C3E093D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91415-7B16-A61C-DC85-D36ACE2032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Machine Learning</a:t>
            </a:r>
          </a:p>
          <a:p>
            <a:r>
              <a:rPr lang="en-US" b="1" dirty="0"/>
              <a:t>By SMBH</a:t>
            </a:r>
            <a:endParaRPr lang="fa-IR" b="1" dirty="0"/>
          </a:p>
        </p:txBody>
      </p:sp>
    </p:spTree>
    <p:extLst>
      <p:ext uri="{BB962C8B-B14F-4D97-AF65-F5344CB8AC3E}">
        <p14:creationId xmlns:p14="http://schemas.microsoft.com/office/powerpoint/2010/main" val="396970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8F4F0-40E4-63C1-7E17-1F8A587A7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39D89F9-14EB-893D-C232-12A0EAA95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8438" y="1616149"/>
            <a:ext cx="9590568" cy="3997842"/>
          </a:xfrm>
        </p:spPr>
        <p:txBody>
          <a:bodyPr>
            <a:normAutofit fontScale="92500" lnSpcReduction="10000"/>
          </a:bodyPr>
          <a:lstStyle/>
          <a:p>
            <a:pPr algn="r" rtl="1"/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رگرسیون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خطی یکی از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ساده‌ترین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و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محبوب‌ترین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الگوریتم‌های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یادگیری ماشین به حساب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می‌آید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. این مدل، روشی آماری است و برای تجزیه و تحلیل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پیش‌بینی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استفاده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می‌شود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.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رگرسیون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خطی برای </a:t>
            </a:r>
            <a:r>
              <a:rPr lang="fa-IR" sz="2800" b="1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متغیرهای پیوسته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، و </a:t>
            </a:r>
            <a:r>
              <a:rPr lang="fa-IR" sz="2800" b="1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عددی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از جمله </a:t>
            </a:r>
            <a:r>
              <a:rPr lang="fa-IR" sz="28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میزان فروش، حقوق، سن افراد، قیمت محصولات 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و سایر موارد مورد استفاده قرار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می‌گیرد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.</a:t>
            </a:r>
          </a:p>
          <a:p>
            <a:pPr algn="r" rtl="1"/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رگرسیون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خطی در یادگیری ماشین رابطه خطی بین متغیری وابسته مانند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</a:t>
            </a:r>
            <a:r>
              <a:rPr lang="en-GB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Y 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و یک یا چند متغیر مستقل مثل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</a:t>
            </a:r>
            <a:r>
              <a:rPr lang="en-GB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X 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را نشان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می‌دهد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، از این رو به آن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رگرسیون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خطی گفته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می‌شود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. به عبارت دیگر، از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آن‌جایی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که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رگرسیون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خطی نشان دهنده رابطه خطی است، </a:t>
            </a:r>
            <a:r>
              <a:rPr lang="fa-IR" sz="2800" dirty="0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چگونگی تغییر مقدار متغیر وابسته را با توجه به مقدار متغیر مستقل پیدا </a:t>
            </a:r>
            <a:r>
              <a:rPr lang="fa-IR" sz="2800" dirty="0" err="1">
                <a:highlight>
                  <a:srgbClr val="FFFF00"/>
                </a:highlight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می‌کند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. مدل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رگرسیون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خطی، یک خط مستقیم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شیب‌دار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و رابطه بین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متغیرها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 را نشان </a:t>
            </a:r>
            <a:r>
              <a:rPr lang="fa-IR" sz="2800" dirty="0" err="1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می‌دهد</a:t>
            </a:r>
            <a:r>
              <a:rPr lang="fa-IR" sz="2800" dirty="0">
                <a:latin typeface="Verdana" panose="020B0604030504040204" pitchFamily="34" charset="0"/>
                <a:ea typeface="Verdana" panose="020B0604030504040204" pitchFamily="34" charset="0"/>
                <a:cs typeface="Al Bayan Plain" pitchFamily="2" charset="-78"/>
              </a:rPr>
              <a:t>. </a:t>
            </a:r>
          </a:p>
          <a:p>
            <a:pPr algn="r" rtl="1"/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04149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D682-33BD-88DE-CD61-57547B20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منحنی رگرسیون خطی در یادگیری ماشین">
            <a:extLst>
              <a:ext uri="{FF2B5EF4-FFF2-40B4-BE49-F238E27FC236}">
                <a16:creationId xmlns:a16="http://schemas.microsoft.com/office/drawing/2014/main" id="{F5F30BD9-F3E8-A13D-B182-90715A063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693" y="603693"/>
            <a:ext cx="5650614" cy="5650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532741-3405-A2A8-DC31-3DE73AD13361}"/>
                  </a:ext>
                </a:extLst>
              </p:cNvPr>
              <p:cNvSpPr txBox="1"/>
              <p:nvPr/>
            </p:nvSpPr>
            <p:spPr>
              <a:xfrm>
                <a:off x="5281724" y="1032486"/>
                <a:ext cx="288408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C1917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1C1917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1C1917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1C1917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1C1917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C1917"/>
                            </a:solidFill>
                            <a:effectLst/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C1917"/>
                    </a:solidFill>
                  </a:rPr>
                  <a:t> + b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1C191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1C191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C191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1C191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solidFill>
                          <a:srgbClr val="1C1917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b="0" i="1" smtClean="0">
                        <a:solidFill>
                          <a:srgbClr val="1C191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l-GR" b="0" i="0" dirty="0">
                  <a:solidFill>
                    <a:srgbClr val="1C1917"/>
                  </a:solidFill>
                  <a:effectLst/>
                  <a:latin typeface="MJXc-TeX-math-I"/>
                </a:endParaRPr>
              </a:p>
              <a:p>
                <a:pPr>
                  <a:buNone/>
                </a:pPr>
                <a:endParaRPr lang="el-GR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532741-3405-A2A8-DC31-3DE73AD13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724" y="1032486"/>
                <a:ext cx="2884081" cy="646331"/>
              </a:xfrm>
              <a:prstGeom prst="rect">
                <a:avLst/>
              </a:prstGeom>
              <a:blipFill>
                <a:blip r:embed="rId3"/>
                <a:stretch>
                  <a:fillRect t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535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30A8A-539D-A670-9430-2F14F9018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Subtitle 3">
                <a:extLst>
                  <a:ext uri="{FF2B5EF4-FFF2-40B4-BE49-F238E27FC236}">
                    <a16:creationId xmlns:a16="http://schemas.microsoft.com/office/drawing/2014/main" id="{7ABCFFD6-6FC9-FC81-25FB-AF52EDBBCA77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1285875" y="1254125"/>
                <a:ext cx="9559925" cy="4349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1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C1917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1C1917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1C1917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1C1917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1C1917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C1917"/>
                            </a:solidFill>
                            <a:effectLst/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1C1917"/>
                    </a:solidFill>
                  </a:rPr>
                  <a:t> + b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1C191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1C191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C191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rgbClr val="1C191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solidFill>
                          <a:srgbClr val="1C191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1C191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fa-IR" b="0" i="1" smtClean="0">
                        <a:solidFill>
                          <a:srgbClr val="1C1917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b="0" i="1" smtClean="0">
                        <a:solidFill>
                          <a:srgbClr val="1C1917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1C191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l-GR" b="0" i="0" dirty="0">
                  <a:solidFill>
                    <a:srgbClr val="1C1917"/>
                  </a:solidFill>
                  <a:effectLst/>
                  <a:latin typeface="MJXc-TeX-math-I"/>
                </a:endParaRPr>
              </a:p>
              <a:p>
                <a:pPr algn="r" rtl="1"/>
                <a:r>
                  <a:rPr lang="fa-IR" sz="2800" dirty="0">
                    <a:cs typeface="Al Bayan Plain" pitchFamily="2" charset="-78"/>
                  </a:rPr>
                  <a:t>وظیفه هر کدام از متغیرهای معادله فوق در ادامه شرح داده شده است:</a:t>
                </a:r>
              </a:p>
              <a:p>
                <a:pPr algn="r" rtl="1"/>
                <a:r>
                  <a:rPr lang="fa-IR" sz="2800" dirty="0">
                    <a:cs typeface="Al Bayan Plain" pitchFamily="2" charset="-78"/>
                  </a:rPr>
                  <a:t>متغیر وابسته</a:t>
                </a:r>
                <a:r>
                  <a:rPr lang="en-GB" sz="2800" dirty="0">
                    <a:cs typeface="Al Bayan Plain" pitchFamily="2" charset="-78"/>
                  </a:rPr>
                  <a:t> Y </a:t>
                </a:r>
                <a:r>
                  <a:rPr lang="fa-IR" sz="2800" dirty="0">
                    <a:cs typeface="Al Bayan Plain" pitchFamily="2" charset="-78"/>
                  </a:rPr>
                  <a:t> یا همان متغیر هدف را نشان </a:t>
                </a:r>
                <a:r>
                  <a:rPr lang="fa-IR" sz="2800" dirty="0" err="1">
                    <a:cs typeface="Al Bayan Plain" pitchFamily="2" charset="-78"/>
                  </a:rPr>
                  <a:t>می‌دهد</a:t>
                </a:r>
                <a:r>
                  <a:rPr lang="fa-IR" sz="2800" dirty="0">
                    <a:cs typeface="Al Bayan Plain" pitchFamily="2" charset="-78"/>
                  </a:rPr>
                  <a:t>.</a:t>
                </a:r>
              </a:p>
              <a:p>
                <a:pPr algn="r" rtl="1"/>
                <a:r>
                  <a:rPr lang="fa-IR" sz="2800" dirty="0">
                    <a:cs typeface="Al Bayan Plain" pitchFamily="2" charset="-78"/>
                  </a:rPr>
                  <a:t>متغیرهای مستقل</a:t>
                </a:r>
                <a:r>
                  <a:rPr lang="en-US" sz="2800" dirty="0">
                    <a:cs typeface="Al Bayan Plain" pitchFamily="2" charset="-78"/>
                  </a:rPr>
                  <a:t> </a:t>
                </a:r>
                <a:r>
                  <a:rPr lang="en-GB" sz="2800" dirty="0">
                    <a:cs typeface="Al Bayan Plain" pitchFamily="2" charset="-78"/>
                  </a:rPr>
                  <a:t>X </a:t>
                </a:r>
                <a:r>
                  <a:rPr lang="fa-IR" sz="2800" dirty="0">
                    <a:cs typeface="Al Bayan Plain" pitchFamily="2" charset="-78"/>
                  </a:rPr>
                  <a:t>یا همان متغیر </a:t>
                </a:r>
                <a:r>
                  <a:rPr lang="fa-IR" sz="2800" dirty="0" err="1">
                    <a:cs typeface="Al Bayan Plain" pitchFamily="2" charset="-78"/>
                  </a:rPr>
                  <a:t>پیش‌بینی</a:t>
                </a:r>
                <a:r>
                  <a:rPr lang="fa-IR" sz="2800" dirty="0">
                    <a:cs typeface="Al Bayan Plain" pitchFamily="2" charset="-78"/>
                  </a:rPr>
                  <a:t> را مشخص </a:t>
                </a:r>
                <a:r>
                  <a:rPr lang="fa-IR" sz="2800" dirty="0" err="1">
                    <a:cs typeface="Al Bayan Plain" pitchFamily="2" charset="-78"/>
                  </a:rPr>
                  <a:t>می‌کند</a:t>
                </a:r>
                <a:r>
                  <a:rPr lang="fa-IR" sz="2800" dirty="0">
                    <a:cs typeface="Al Bayan Plain" pitchFamily="2" charset="-78"/>
                  </a:rPr>
                  <a:t>.</a:t>
                </a:r>
              </a:p>
              <a:p>
                <a:pPr algn="r" rtl="1"/>
                <a:r>
                  <a:rPr lang="fa-IR" sz="2800" dirty="0" err="1">
                    <a:cs typeface="Al Bayan Plain" pitchFamily="2" charset="-78"/>
                  </a:rPr>
                  <a:t>ضرائب</a:t>
                </a:r>
                <a:r>
                  <a:rPr lang="fa-IR" sz="2800" dirty="0">
                    <a:cs typeface="Al Bayan Plain" pitchFamily="2" charset="-78"/>
                  </a:rPr>
                  <a:t> </a:t>
                </a:r>
                <a:r>
                  <a:rPr lang="en-US" sz="2800" dirty="0">
                    <a:cs typeface="Al Bayan Plain" pitchFamily="2" charset="-78"/>
                  </a:rPr>
                  <a:t>a </a:t>
                </a:r>
                <a:r>
                  <a:rPr lang="fa-IR" sz="2800" dirty="0">
                    <a:cs typeface="Al Bayan Plain" pitchFamily="2" charset="-78"/>
                  </a:rPr>
                  <a:t> و  </a:t>
                </a:r>
                <a:r>
                  <a:rPr lang="en-US" sz="2800" dirty="0">
                    <a:cs typeface="Al Bayan Plain" pitchFamily="2" charset="-78"/>
                  </a:rPr>
                  <a:t>b</a:t>
                </a:r>
                <a:r>
                  <a:rPr lang="fa-IR" sz="2800" dirty="0">
                    <a:cs typeface="Al Bayan Plain" pitchFamily="2" charset="-78"/>
                  </a:rPr>
                  <a:t> که وزن و تاثیر </a:t>
                </a:r>
                <a:r>
                  <a:rPr lang="fa-IR" sz="2800" dirty="0" err="1">
                    <a:cs typeface="Al Bayan Plain" pitchFamily="2" charset="-78"/>
                  </a:rPr>
                  <a:t>هرکدام</a:t>
                </a:r>
                <a:r>
                  <a:rPr lang="fa-IR" sz="2800" dirty="0">
                    <a:cs typeface="Al Bayan Plain" pitchFamily="2" charset="-78"/>
                  </a:rPr>
                  <a:t> از متغیرهای وابسته را مشخص می کنند.</a:t>
                </a:r>
                <a:endParaRPr lang="en-GB" sz="2800" dirty="0">
                  <a:cs typeface="Al Bayan Plain" pitchFamily="2" charset="-78"/>
                </a:endParaRPr>
              </a:p>
              <a:p>
                <a:pPr algn="r" rtl="1"/>
                <a:r>
                  <a:rPr lang="fa-IR" sz="2800" dirty="0">
                    <a:cs typeface="Al Bayan Plain" pitchFamily="2" charset="-78"/>
                  </a:rPr>
                  <a:t>عرض از مبدا </a:t>
                </a:r>
                <a:r>
                  <a:rPr lang="en-US" sz="2800" dirty="0">
                    <a:cs typeface="Al Bayan Plain" pitchFamily="2" charset="-78"/>
                  </a:rPr>
                  <a:t>c</a:t>
                </a:r>
                <a:endParaRPr lang="fa-IR" sz="2800" dirty="0">
                  <a:cs typeface="Al Bayan Plain" pitchFamily="2" charset="-78"/>
                </a:endParaRPr>
              </a:p>
              <a:p>
                <a:pPr algn="r" rtl="1"/>
                <a:r>
                  <a:rPr lang="fa-IR" sz="2800" dirty="0">
                    <a:cs typeface="Al Bayan Plain" pitchFamily="2" charset="-78"/>
                  </a:rPr>
                  <a:t>خطای تصادفی </a:t>
                </a:r>
                <a:r>
                  <a:rPr lang="el-GR" sz="2800" dirty="0">
                    <a:cs typeface="Al Bayan Plain" pitchFamily="2" charset="-78"/>
                  </a:rPr>
                  <a:t>ε</a:t>
                </a:r>
                <a:r>
                  <a:rPr lang="fa-IR" sz="2800" dirty="0">
                    <a:cs typeface="Al Bayan Plain" pitchFamily="2" charset="-78"/>
                  </a:rPr>
                  <a:t> را مشخص </a:t>
                </a:r>
                <a:r>
                  <a:rPr lang="fa-IR" sz="2800" dirty="0" err="1">
                    <a:cs typeface="Al Bayan Plain" pitchFamily="2" charset="-78"/>
                  </a:rPr>
                  <a:t>می‌کند</a:t>
                </a:r>
                <a:r>
                  <a:rPr lang="fa-IR" sz="2800" dirty="0">
                    <a:cs typeface="Al Bayan Plain" pitchFamily="2" charset="-78"/>
                  </a:rPr>
                  <a:t>.</a:t>
                </a:r>
              </a:p>
              <a:p>
                <a:pPr algn="r" rtl="1"/>
                <a:r>
                  <a:rPr lang="fa-IR" sz="2800" dirty="0">
                    <a:cs typeface="Al Bayan Plain" pitchFamily="2" charset="-78"/>
                  </a:rPr>
                  <a:t>مقدار متغیرهای </a:t>
                </a:r>
                <a:r>
                  <a:rPr lang="en-GB" sz="2800" dirty="0">
                    <a:cs typeface="Al Bayan Plain" pitchFamily="2" charset="-78"/>
                  </a:rPr>
                  <a:t>X </a:t>
                </a:r>
                <a:r>
                  <a:rPr lang="fa-IR" sz="2800" dirty="0">
                    <a:cs typeface="Al Bayan Plain" pitchFamily="2" charset="-78"/>
                  </a:rPr>
                  <a:t> و </a:t>
                </a:r>
                <a:r>
                  <a:rPr lang="en-GB" sz="2800" dirty="0">
                    <a:cs typeface="Al Bayan Plain" pitchFamily="2" charset="-78"/>
                  </a:rPr>
                  <a:t>Y </a:t>
                </a:r>
                <a:r>
                  <a:rPr lang="fa-IR" sz="2800" dirty="0">
                    <a:cs typeface="Al Bayan Plain" pitchFamily="2" charset="-78"/>
                  </a:rPr>
                  <a:t>مجموعه </a:t>
                </a:r>
                <a:r>
                  <a:rPr lang="fa-IR" sz="2800" dirty="0" err="1">
                    <a:cs typeface="Al Bayan Plain" pitchFamily="2" charset="-78"/>
                  </a:rPr>
                  <a:t>داده‌های</a:t>
                </a:r>
                <a:r>
                  <a:rPr lang="fa-IR" sz="2800" dirty="0">
                    <a:cs typeface="Al Bayan Plain" pitchFamily="2" charset="-78"/>
                  </a:rPr>
                  <a:t> «آموزش» </a:t>
                </a:r>
                <a:r>
                  <a:rPr lang="en-GB" sz="2800" dirty="0">
                    <a:cs typeface="Al Bayan Plain" pitchFamily="2" charset="-78"/>
                  </a:rPr>
                  <a:t>Train</a:t>
                </a:r>
                <a:r>
                  <a:rPr lang="fa-IR" sz="2800" dirty="0">
                    <a:cs typeface="Al Bayan Plain" pitchFamily="2" charset="-78"/>
                  </a:rPr>
                  <a:t>را برای مدل </a:t>
                </a:r>
                <a:r>
                  <a:rPr lang="fa-IR" sz="2800" dirty="0" err="1">
                    <a:cs typeface="Al Bayan Plain" pitchFamily="2" charset="-78"/>
                  </a:rPr>
                  <a:t>رگرسیون</a:t>
                </a:r>
                <a:r>
                  <a:rPr lang="fa-IR" sz="2800" dirty="0">
                    <a:cs typeface="Al Bayan Plain" pitchFamily="2" charset="-78"/>
                  </a:rPr>
                  <a:t> خطی نشان </a:t>
                </a:r>
                <a:r>
                  <a:rPr lang="fa-IR" sz="2800" dirty="0" err="1">
                    <a:cs typeface="Al Bayan Plain" pitchFamily="2" charset="-78"/>
                  </a:rPr>
                  <a:t>می‌دهند</a:t>
                </a:r>
                <a:r>
                  <a:rPr lang="fa-IR" sz="2800" dirty="0">
                    <a:cs typeface="Al Bayan Plain" pitchFamily="2" charset="-78"/>
                  </a:rPr>
                  <a:t>.</a:t>
                </a:r>
              </a:p>
            </p:txBody>
          </p:sp>
        </mc:Choice>
        <mc:Fallback>
          <p:sp>
            <p:nvSpPr>
              <p:cNvPr id="4" name="Subtitle 3">
                <a:extLst>
                  <a:ext uri="{FF2B5EF4-FFF2-40B4-BE49-F238E27FC236}">
                    <a16:creationId xmlns:a16="http://schemas.microsoft.com/office/drawing/2014/main" id="{7ABCFFD6-6FC9-FC81-25FB-AF52EDBBCA7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285875" y="1254125"/>
                <a:ext cx="9559925" cy="4349268"/>
              </a:xfrm>
              <a:prstGeom prst="rect">
                <a:avLst/>
              </a:prstGeom>
              <a:blipFill>
                <a:blip r:embed="rId2"/>
                <a:stretch>
                  <a:fillRect l="-664" t="-581" r="-1328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9410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48928-DE93-C839-D6F1-A1373796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7E164655-CA36-583B-9D36-FE6137522A8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85875" y="1254125"/>
            <a:ext cx="9559925" cy="1677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b="1" dirty="0" err="1">
                <a:cs typeface="AL BAYAN PLAIN" pitchFamily="2" charset="-78"/>
              </a:rPr>
              <a:t>رگرسیون</a:t>
            </a:r>
            <a:r>
              <a:rPr lang="fa-IR" b="1" dirty="0">
                <a:cs typeface="AL BAYAN PLAIN" pitchFamily="2" charset="-78"/>
              </a:rPr>
              <a:t> خطی ساده: </a:t>
            </a:r>
            <a:r>
              <a:rPr lang="fa-IR" dirty="0">
                <a:cs typeface="Al Bayan Plain" pitchFamily="2" charset="-78"/>
              </a:rPr>
              <a:t>زمانی به یک </a:t>
            </a:r>
            <a:r>
              <a:rPr lang="fa-IR" dirty="0" err="1">
                <a:cs typeface="Al Bayan Plain" pitchFamily="2" charset="-78"/>
              </a:rPr>
              <a:t>الگوریتم</a:t>
            </a:r>
            <a:r>
              <a:rPr lang="fa-IR" dirty="0">
                <a:cs typeface="Al Bayan Plain" pitchFamily="2" charset="-78"/>
              </a:rPr>
              <a:t> </a:t>
            </a:r>
            <a:r>
              <a:rPr lang="fa-IR" dirty="0" err="1">
                <a:cs typeface="Al Bayan Plain" pitchFamily="2" charset="-78"/>
              </a:rPr>
              <a:t>رگرسیون</a:t>
            </a:r>
            <a:r>
              <a:rPr lang="fa-IR" dirty="0">
                <a:cs typeface="Al Bayan Plain" pitchFamily="2" charset="-78"/>
              </a:rPr>
              <a:t> خطی ساده گفته </a:t>
            </a:r>
            <a:r>
              <a:rPr lang="fa-IR" dirty="0" err="1">
                <a:cs typeface="Al Bayan Plain" pitchFamily="2" charset="-78"/>
              </a:rPr>
              <a:t>می‌شود</a:t>
            </a:r>
            <a:r>
              <a:rPr lang="fa-IR" dirty="0">
                <a:cs typeface="Al Bayan Plain" pitchFamily="2" charset="-78"/>
              </a:rPr>
              <a:t> که برای </a:t>
            </a:r>
            <a:r>
              <a:rPr lang="fa-IR" dirty="0" err="1">
                <a:cs typeface="Al Bayan Plain" pitchFamily="2" charset="-78"/>
              </a:rPr>
              <a:t>پیش‌بینی</a:t>
            </a:r>
            <a:r>
              <a:rPr lang="fa-IR" dirty="0">
                <a:cs typeface="Al Bayan Plain" pitchFamily="2" charset="-78"/>
              </a:rPr>
              <a:t> مقدار متغیر عددی وابسته از یک متغیر مستقل واحد استفاده شود.</a:t>
            </a:r>
          </a:p>
          <a:p>
            <a:pPr algn="r" rtl="1"/>
            <a:r>
              <a:rPr lang="fa-IR" b="1" dirty="0" err="1">
                <a:cs typeface="AL BAYAN PLAIN" pitchFamily="2" charset="-78"/>
              </a:rPr>
              <a:t>رگرسیون</a:t>
            </a:r>
            <a:r>
              <a:rPr lang="fa-IR" b="1" dirty="0">
                <a:cs typeface="AL BAYAN PLAIN" pitchFamily="2" charset="-78"/>
              </a:rPr>
              <a:t> خطی </a:t>
            </a:r>
            <a:r>
              <a:rPr lang="fa-IR" b="1" dirty="0" err="1">
                <a:cs typeface="AL BAYAN PLAIN" pitchFamily="2" charset="-78"/>
              </a:rPr>
              <a:t>چندگانه</a:t>
            </a:r>
            <a:r>
              <a:rPr lang="fa-IR" b="1" dirty="0">
                <a:cs typeface="AL BAYAN PLAIN" pitchFamily="2" charset="-78"/>
              </a:rPr>
              <a:t>: </a:t>
            </a:r>
            <a:r>
              <a:rPr lang="fa-IR" dirty="0">
                <a:cs typeface="Al Bayan Plain" pitchFamily="2" charset="-78"/>
              </a:rPr>
              <a:t>اگر برای </a:t>
            </a:r>
            <a:r>
              <a:rPr lang="fa-IR" dirty="0" err="1">
                <a:cs typeface="Al Bayan Plain" pitchFamily="2" charset="-78"/>
              </a:rPr>
              <a:t>پیش‌بینی</a:t>
            </a:r>
            <a:r>
              <a:rPr lang="fa-IR" dirty="0">
                <a:cs typeface="Al Bayan Plain" pitchFamily="2" charset="-78"/>
              </a:rPr>
              <a:t> مقدار متغیر وابسته عددی بیش از یک متغیر مستقل استفاده شود، به این مدل، </a:t>
            </a:r>
            <a:r>
              <a:rPr lang="fa-IR" dirty="0" err="1">
                <a:cs typeface="Al Bayan Plain" pitchFamily="2" charset="-78"/>
              </a:rPr>
              <a:t>رگرسیون</a:t>
            </a:r>
            <a:r>
              <a:rPr lang="fa-IR" dirty="0">
                <a:cs typeface="Al Bayan Plain" pitchFamily="2" charset="-78"/>
              </a:rPr>
              <a:t> خطی </a:t>
            </a:r>
            <a:r>
              <a:rPr lang="fa-IR" dirty="0" err="1">
                <a:cs typeface="Al Bayan Plain" pitchFamily="2" charset="-78"/>
              </a:rPr>
              <a:t>چندگانه</a:t>
            </a:r>
            <a:r>
              <a:rPr lang="fa-IR" dirty="0">
                <a:cs typeface="Al Bayan Plain" pitchFamily="2" charset="-78"/>
              </a:rPr>
              <a:t> گفته </a:t>
            </a:r>
            <a:r>
              <a:rPr lang="fa-IR" dirty="0" err="1">
                <a:cs typeface="Al Bayan Plain" pitchFamily="2" charset="-78"/>
              </a:rPr>
              <a:t>می‌گویند</a:t>
            </a:r>
            <a:r>
              <a:rPr lang="fa-IR" dirty="0">
                <a:cs typeface="Al Bayan Plain" pitchFamily="2" charset="-78"/>
              </a:rPr>
              <a:t>.</a:t>
            </a:r>
          </a:p>
        </p:txBody>
      </p:sp>
      <p:pic>
        <p:nvPicPr>
          <p:cNvPr id="4098" name="Picture 2" descr="Simple and Multiple Linear Regression Structure | Download Scientific  Diagram">
            <a:extLst>
              <a:ext uri="{FF2B5EF4-FFF2-40B4-BE49-F238E27FC236}">
                <a16:creationId xmlns:a16="http://schemas.microsoft.com/office/drawing/2014/main" id="{77242117-2ADC-380B-3578-EC5F911CE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0" y="2521846"/>
            <a:ext cx="4749984" cy="400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E3E520-1BFB-DB83-943E-0762E50E6BD6}"/>
              </a:ext>
            </a:extLst>
          </p:cNvPr>
          <p:cNvSpPr txBox="1"/>
          <p:nvPr/>
        </p:nvSpPr>
        <p:spPr>
          <a:xfrm>
            <a:off x="6379535" y="3429000"/>
            <a:ext cx="43168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cs typeface="Al Bayan Plain" pitchFamily="2" charset="-78"/>
              </a:rPr>
              <a:t>هدف:  آموزش خطی که رابطه بین متغیرهای وابسته و مستقل را نشان </a:t>
            </a:r>
            <a:r>
              <a:rPr lang="fa-IR" dirty="0" err="1">
                <a:cs typeface="Al Bayan Plain" pitchFamily="2" charset="-78"/>
              </a:rPr>
              <a:t>می‌دهد</a:t>
            </a:r>
            <a:r>
              <a:rPr lang="fa-IR" dirty="0">
                <a:cs typeface="Al Bayan Plain" pitchFamily="2" charset="-78"/>
              </a:rPr>
              <a:t>، خط </a:t>
            </a:r>
            <a:r>
              <a:rPr lang="fa-IR" dirty="0" err="1">
                <a:cs typeface="Al Bayan Plain" pitchFamily="2" charset="-78"/>
              </a:rPr>
              <a:t>رگرسیون</a:t>
            </a:r>
            <a:r>
              <a:rPr lang="fa-IR" dirty="0">
                <a:cs typeface="Al Bayan Plain" pitchFamily="2" charset="-78"/>
              </a:rPr>
              <a:t> نامیده </a:t>
            </a:r>
            <a:r>
              <a:rPr lang="fa-IR" dirty="0" err="1">
                <a:cs typeface="Al Bayan Plain" pitchFamily="2" charset="-78"/>
              </a:rPr>
              <a:t>می‌شود</a:t>
            </a:r>
            <a:r>
              <a:rPr lang="fa-IR" dirty="0">
                <a:cs typeface="Al Bayan Plain" pitchFamily="2" charset="-78"/>
              </a:rPr>
              <a:t>.</a:t>
            </a:r>
          </a:p>
          <a:p>
            <a:pPr algn="r" rtl="1"/>
            <a:br>
              <a:rPr lang="fa-IR" dirty="0">
                <a:cs typeface="Al Bayan Plain" pitchFamily="2" charset="-78"/>
                <a:hlinkClick r:id="rId3"/>
              </a:rPr>
            </a:br>
            <a:endParaRPr lang="fa-IR" dirty="0">
              <a:cs typeface="Al Bayan Plain" pitchFamily="2" charset="-78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3278189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A9DA8-51A4-996A-9726-F29FB1533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3DFCC7-DC0A-9487-73F5-2D15163C1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059" y="2885880"/>
            <a:ext cx="3355164" cy="2441031"/>
          </a:xfrm>
        </p:spPr>
        <p:txBody>
          <a:bodyPr>
            <a:normAutofit/>
          </a:bodyPr>
          <a:lstStyle/>
          <a:p>
            <a:r>
              <a:rPr lang="fa-IR" b="1" dirty="0">
                <a:cs typeface="AL BAYAN PLAIN" pitchFamily="2" charset="-78"/>
              </a:rPr>
              <a:t>شیب مثبت نشان دهنده ارتباط خطی مثبت است</a:t>
            </a:r>
            <a:endParaRPr lang="en-US" b="1" dirty="0">
              <a:cs typeface="AL BAYAN PLAIN" pitchFamily="2" charset="-78"/>
            </a:endParaRPr>
          </a:p>
          <a:p>
            <a:endParaRPr lang="en-US" b="1" dirty="0">
              <a:cs typeface="AL BAYAN PLAIN" pitchFamily="2" charset="-78"/>
            </a:endParaRPr>
          </a:p>
          <a:p>
            <a:pPr rtl="1"/>
            <a:r>
              <a:rPr lang="fa-IR" b="1" dirty="0">
                <a:cs typeface="AL BAYAN PLAIN" pitchFamily="2" charset="-78"/>
              </a:rPr>
              <a:t>نکته: شیب خط برابر است با ضریب </a:t>
            </a:r>
            <a:r>
              <a:rPr lang="en-US" b="1" dirty="0">
                <a:cs typeface="AL BAYAN PLAIN" pitchFamily="2" charset="-78"/>
              </a:rPr>
              <a:t>a1</a:t>
            </a:r>
            <a:r>
              <a:rPr lang="fa-IR" b="1" dirty="0">
                <a:cs typeface="AL BAYAN PLAIN" pitchFamily="2" charset="-78"/>
              </a:rPr>
              <a:t> که اینجا </a:t>
            </a:r>
            <a:r>
              <a:rPr lang="en-US" b="1" dirty="0">
                <a:cs typeface="AL BAYAN PLAIN" pitchFamily="2" charset="-78"/>
              </a:rPr>
              <a:t>a1 &gt; 0</a:t>
            </a:r>
            <a:endParaRPr lang="fa-IR" b="1" dirty="0">
              <a:cs typeface="AL BAYAN PLAIN" pitchFamily="2" charset="-78"/>
            </a:endParaRPr>
          </a:p>
        </p:txBody>
      </p:sp>
      <p:pic>
        <p:nvPicPr>
          <p:cNvPr id="5122" name="Picture 2" descr="رگرسیون ارتباط خطی مثبت در یادگیری ماشین">
            <a:extLst>
              <a:ext uri="{FF2B5EF4-FFF2-40B4-BE49-F238E27FC236}">
                <a16:creationId xmlns:a16="http://schemas.microsoft.com/office/drawing/2014/main" id="{89B4BC60-89E5-4301-4235-53D5C258A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893" y="1424393"/>
            <a:ext cx="5793048" cy="400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3672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052FC-437E-3F04-D894-E97841BAD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65A39C-8049-F683-B3AC-637B2C1B4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059" y="2885881"/>
            <a:ext cx="3355164" cy="2674368"/>
          </a:xfrm>
        </p:spPr>
        <p:txBody>
          <a:bodyPr>
            <a:normAutofit/>
          </a:bodyPr>
          <a:lstStyle/>
          <a:p>
            <a:r>
              <a:rPr lang="fa-IR" b="1" dirty="0">
                <a:cs typeface="AL BAYAN PLAIN" pitchFamily="2" charset="-78"/>
              </a:rPr>
              <a:t>شیب منفی نشان دهنده ارتباط خطی منفی است</a:t>
            </a:r>
            <a:endParaRPr lang="en-US" b="1" dirty="0">
              <a:cs typeface="AL BAYAN PLAIN" pitchFamily="2" charset="-78"/>
            </a:endParaRPr>
          </a:p>
          <a:p>
            <a:endParaRPr lang="en-US" b="1" dirty="0">
              <a:cs typeface="AL BAYAN PLAIN" pitchFamily="2" charset="-78"/>
            </a:endParaRPr>
          </a:p>
          <a:p>
            <a:pPr rtl="1"/>
            <a:r>
              <a:rPr lang="fa-IR" b="1" dirty="0">
                <a:cs typeface="AL BAYAN PLAIN" pitchFamily="2" charset="-78"/>
              </a:rPr>
              <a:t>نکته: شیب خط برابر است با ضریب </a:t>
            </a:r>
            <a:r>
              <a:rPr lang="en-US" b="1" dirty="0">
                <a:cs typeface="AL BAYAN PLAIN" pitchFamily="2" charset="-78"/>
              </a:rPr>
              <a:t>a1</a:t>
            </a:r>
            <a:r>
              <a:rPr lang="fa-IR" b="1" dirty="0">
                <a:cs typeface="AL BAYAN PLAIN" pitchFamily="2" charset="-78"/>
              </a:rPr>
              <a:t> که اینجا </a:t>
            </a:r>
            <a:r>
              <a:rPr lang="en-US" b="1" dirty="0">
                <a:cs typeface="AL BAYAN PLAIN" pitchFamily="2" charset="-78"/>
              </a:rPr>
              <a:t>a1 &lt; 0</a:t>
            </a:r>
            <a:endParaRPr lang="fa-IR" b="1" dirty="0">
              <a:cs typeface="AL BAYAN PLAIN" pitchFamily="2" charset="-78"/>
            </a:endParaRPr>
          </a:p>
          <a:p>
            <a:pPr rtl="1"/>
            <a:endParaRPr lang="fa-IR" b="1" dirty="0">
              <a:cs typeface="AL BAYAN PLAIN" pitchFamily="2" charset="-78"/>
            </a:endParaRPr>
          </a:p>
        </p:txBody>
      </p:sp>
      <p:pic>
        <p:nvPicPr>
          <p:cNvPr id="7170" name="Picture 2" descr="رگرسیون ارتباط خطی منفی در یادگیری ماشین">
            <a:extLst>
              <a:ext uri="{FF2B5EF4-FFF2-40B4-BE49-F238E27FC236}">
                <a16:creationId xmlns:a16="http://schemas.microsoft.com/office/drawing/2014/main" id="{1064A7E2-B4B5-6237-D305-D8A7ED834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3893" y="1297751"/>
            <a:ext cx="5793048" cy="426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405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6A520-A822-DD82-B3C9-1855E436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27135F8-B018-54A1-2BA4-6BE357CB4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4129" y="1521423"/>
            <a:ext cx="3583173" cy="3284493"/>
          </a:xfrm>
        </p:spPr>
        <p:txBody>
          <a:bodyPr>
            <a:normAutofit/>
          </a:bodyPr>
          <a:lstStyle/>
          <a:p>
            <a:pPr algn="r" rtl="1"/>
            <a:r>
              <a:rPr lang="fa-IR" dirty="0">
                <a:cs typeface="Al Bayan Plain" pitchFamily="2" charset="-78"/>
              </a:rPr>
              <a:t>هدف اصلی </a:t>
            </a:r>
            <a:r>
              <a:rPr lang="fa-IR" dirty="0" err="1">
                <a:cs typeface="Al Bayan Plain" pitchFamily="2" charset="-78"/>
              </a:rPr>
              <a:t>الگوریتم‌های</a:t>
            </a:r>
            <a:r>
              <a:rPr lang="fa-IR" dirty="0">
                <a:cs typeface="Al Bayan Plain" pitchFamily="2" charset="-78"/>
              </a:rPr>
              <a:t> </a:t>
            </a:r>
            <a:r>
              <a:rPr lang="fa-IR" dirty="0" err="1">
                <a:cs typeface="Al Bayan Plain" pitchFamily="2" charset="-78"/>
              </a:rPr>
              <a:t>رگرسیون</a:t>
            </a:r>
            <a:r>
              <a:rPr lang="fa-IR" dirty="0">
                <a:cs typeface="Al Bayan Plain" pitchFamily="2" charset="-78"/>
              </a:rPr>
              <a:t> خطی، پیدا کردن بهترین خط برازش و مقدارهای بهینه برای جدا </a:t>
            </a:r>
            <a:r>
              <a:rPr lang="fa-IR" dirty="0" err="1">
                <a:cs typeface="Al Bayan Plain" pitchFamily="2" charset="-78"/>
              </a:rPr>
              <a:t>کننده‌ها</a:t>
            </a:r>
            <a:r>
              <a:rPr lang="fa-IR" dirty="0">
                <a:cs typeface="Al Bayan Plain" pitchFamily="2" charset="-78"/>
              </a:rPr>
              <a:t> و </a:t>
            </a:r>
            <a:r>
              <a:rPr lang="fa-IR" dirty="0" err="1">
                <a:cs typeface="Al Bayan Plain" pitchFamily="2" charset="-78"/>
              </a:rPr>
              <a:t>ضرایب</a:t>
            </a:r>
            <a:r>
              <a:rPr lang="fa-IR" dirty="0">
                <a:cs typeface="Al Bayan Plain" pitchFamily="2" charset="-78"/>
              </a:rPr>
              <a:t> از جمله به حداقل رساندن خطاها است. خطا در </a:t>
            </a:r>
            <a:r>
              <a:rPr lang="fa-IR" dirty="0" err="1">
                <a:cs typeface="Al Bayan Plain" pitchFamily="2" charset="-78"/>
              </a:rPr>
              <a:t>الگوریتم‌های</a:t>
            </a:r>
            <a:r>
              <a:rPr lang="fa-IR" dirty="0">
                <a:cs typeface="Al Bayan Plain" pitchFamily="2" charset="-78"/>
              </a:rPr>
              <a:t> </a:t>
            </a:r>
            <a:r>
              <a:rPr lang="fa-IR" dirty="0" err="1">
                <a:cs typeface="Al Bayan Plain" pitchFamily="2" charset="-78"/>
              </a:rPr>
              <a:t>رگرسیون</a:t>
            </a:r>
            <a:r>
              <a:rPr lang="fa-IR" dirty="0">
                <a:cs typeface="Al Bayan Plain" pitchFamily="2" charset="-78"/>
              </a:rPr>
              <a:t> خطی، تفاوت بین مقدار واقعی و مقدار </a:t>
            </a:r>
            <a:r>
              <a:rPr lang="fa-IR" dirty="0" err="1">
                <a:cs typeface="Al Bayan Plain" pitchFamily="2" charset="-78"/>
              </a:rPr>
              <a:t>پیش‌بینی</a:t>
            </a:r>
            <a:r>
              <a:rPr lang="fa-IR" dirty="0">
                <a:cs typeface="Al Bayan Plain" pitchFamily="2" charset="-78"/>
              </a:rPr>
              <a:t> شده به حساب </a:t>
            </a:r>
            <a:r>
              <a:rPr lang="fa-IR" dirty="0" err="1">
                <a:cs typeface="Al Bayan Plain" pitchFamily="2" charset="-78"/>
              </a:rPr>
              <a:t>می‌آید</a:t>
            </a:r>
            <a:r>
              <a:rPr lang="fa-IR" dirty="0">
                <a:cs typeface="Al Bayan Plain" pitchFamily="2" charset="-78"/>
              </a:rPr>
              <a:t> و هدف </a:t>
            </a:r>
            <a:r>
              <a:rPr lang="fa-IR" dirty="0" err="1">
                <a:cs typeface="Al Bayan Plain" pitchFamily="2" charset="-78"/>
              </a:rPr>
              <a:t>الگوریتم</a:t>
            </a:r>
            <a:r>
              <a:rPr lang="fa-IR" dirty="0">
                <a:cs typeface="Al Bayan Plain" pitchFamily="2" charset="-78"/>
              </a:rPr>
              <a:t> کاهش این تفاوت است.</a:t>
            </a:r>
            <a:endParaRPr lang="en-US" dirty="0">
              <a:cs typeface="Al Bayan Plain" pitchFamily="2" charset="-78"/>
            </a:endParaRPr>
          </a:p>
          <a:p>
            <a:pPr algn="r" rtl="1"/>
            <a:endParaRPr lang="en-US" b="1" dirty="0">
              <a:cs typeface="Al Bayan Plain" pitchFamily="2" charset="-78"/>
            </a:endParaRPr>
          </a:p>
          <a:p>
            <a:pPr algn="r" rtl="1"/>
            <a:endParaRPr lang="fa-IR" b="1" dirty="0">
              <a:cs typeface="AL BAYAN PLAIN" pitchFamily="2" charset="-78"/>
            </a:endParaRPr>
          </a:p>
        </p:txBody>
      </p:sp>
      <p:pic>
        <p:nvPicPr>
          <p:cNvPr id="8194" name="Picture 2" descr="خطا در رگرسیون خطی در یادگیری ماشین">
            <a:extLst>
              <a:ext uri="{FF2B5EF4-FFF2-40B4-BE49-F238E27FC236}">
                <a16:creationId xmlns:a16="http://schemas.microsoft.com/office/drawing/2014/main" id="{C93F2C94-3255-BC0F-D20D-397E2479F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3116" y="1217785"/>
            <a:ext cx="5630237" cy="442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A9AB16-450E-1196-8303-5A372B55A3F0}"/>
              </a:ext>
            </a:extLst>
          </p:cNvPr>
          <p:cNvSpPr txBox="1"/>
          <p:nvPr/>
        </p:nvSpPr>
        <p:spPr>
          <a:xfrm>
            <a:off x="866256" y="5422605"/>
            <a:ext cx="5229744" cy="925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Residual Error </a:t>
            </a:r>
            <a:r>
              <a:rPr lang="en-GB" dirty="0"/>
              <a:t>= </a:t>
            </a:r>
            <a:r>
              <a:rPr lang="en-GB" i="1" dirty="0"/>
              <a:t>Actual values </a:t>
            </a:r>
            <a:r>
              <a:rPr lang="en-GB" dirty="0"/>
              <a:t>− </a:t>
            </a:r>
            <a:r>
              <a:rPr lang="en-GB" i="1" dirty="0"/>
              <a:t>Predicted Values</a:t>
            </a:r>
            <a:endParaRPr lang="en-GB" dirty="0"/>
          </a:p>
          <a:p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474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C39C9-73CB-9488-7A94-1DA45FBE4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27A168A-6C29-0A19-653C-0420B3DD5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4129" y="1940441"/>
            <a:ext cx="9154634" cy="925033"/>
          </a:xfrm>
        </p:spPr>
        <p:txBody>
          <a:bodyPr>
            <a:noAutofit/>
          </a:bodyPr>
          <a:lstStyle/>
          <a:p>
            <a:pPr algn="r" rtl="1"/>
            <a:r>
              <a:rPr lang="fa-IR" sz="2000" dirty="0">
                <a:cs typeface="Al Bayan Plain" pitchFamily="2" charset="-78"/>
              </a:rPr>
              <a:t>مجموع مقادیر </a:t>
            </a:r>
            <a:r>
              <a:rPr lang="fa-IR" sz="2000" dirty="0" err="1">
                <a:cs typeface="Al Bayan Plain" pitchFamily="2" charset="-78"/>
              </a:rPr>
              <a:t>باقی‌مانده</a:t>
            </a:r>
            <a:r>
              <a:rPr lang="fa-IR" sz="2000" dirty="0">
                <a:cs typeface="Al Bayan Plain" pitchFamily="2" charset="-78"/>
              </a:rPr>
              <a:t> یا خطاها با استفاده از فرمول فوق به این صورت محاسبه شده است که مجموع مقادیر واقعی منهای مقادیر </a:t>
            </a:r>
            <a:r>
              <a:rPr lang="fa-IR" sz="2000" dirty="0" err="1">
                <a:cs typeface="Al Bayan Plain" pitchFamily="2" charset="-78"/>
              </a:rPr>
              <a:t>پیش‌بینی</a:t>
            </a:r>
            <a:r>
              <a:rPr lang="fa-IR" sz="2000" dirty="0">
                <a:cs typeface="Al Bayan Plain" pitchFamily="2" charset="-78"/>
              </a:rPr>
              <a:t> شده حساب </a:t>
            </a:r>
            <a:r>
              <a:rPr lang="fa-IR" sz="2000" dirty="0" err="1">
                <a:cs typeface="Al Bayan Plain" pitchFamily="2" charset="-78"/>
              </a:rPr>
              <a:t>می‌شود</a:t>
            </a:r>
            <a:r>
              <a:rPr lang="fa-IR" sz="2000" dirty="0">
                <a:cs typeface="Al Bayan Plain" pitchFamily="2" charset="-78"/>
              </a:rPr>
              <a:t>.</a:t>
            </a:r>
            <a:br>
              <a:rPr lang="fa-IR" sz="2000" dirty="0">
                <a:cs typeface="Al Bayan Plain" pitchFamily="2" charset="-78"/>
              </a:rPr>
            </a:br>
            <a:endParaRPr lang="fa-IR" sz="2000" b="0" dirty="0">
              <a:effectLst/>
              <a:cs typeface="Al Bayan Plain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3C97FC-FA27-E6E1-6AE8-B99F998725AB}"/>
              </a:ext>
            </a:extLst>
          </p:cNvPr>
          <p:cNvSpPr txBox="1"/>
          <p:nvPr/>
        </p:nvSpPr>
        <p:spPr>
          <a:xfrm>
            <a:off x="1414128" y="1360967"/>
            <a:ext cx="8452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 Sum of Residuals Errors = Sum (Actual−Predicted)</a:t>
            </a:r>
          </a:p>
          <a:p>
            <a:br>
              <a:rPr lang="en-GB" dirty="0"/>
            </a:br>
            <a:br>
              <a:rPr lang="en-GB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07678E-8ECF-EBB6-CD16-C906DB58D696}"/>
                  </a:ext>
                </a:extLst>
              </p:cNvPr>
              <p:cNvSpPr txBox="1"/>
              <p:nvPr/>
            </p:nvSpPr>
            <p:spPr>
              <a:xfrm>
                <a:off x="1414128" y="2690036"/>
                <a:ext cx="845288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Square of Sum of Residuals Errors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𝑆𝑢𝑚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𝐴𝑐𝑡𝑢𝑎𝑙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𝑃𝑟𝑒𝑑𝑖𝑐𝑡𝑒𝑑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GB" dirty="0"/>
                </a:br>
                <a:br>
                  <a:rPr lang="en-GB" dirty="0"/>
                </a:b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07678E-8ECF-EBB6-CD16-C906DB58D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128" y="2690036"/>
                <a:ext cx="8452885" cy="923330"/>
              </a:xfrm>
              <a:prstGeom prst="rect">
                <a:avLst/>
              </a:prstGeom>
              <a:blipFill>
                <a:blip r:embed="rId2"/>
                <a:stretch>
                  <a:fillRect l="-600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E788F18-5E4E-EF72-3B75-5FC178D988FC}"/>
              </a:ext>
            </a:extLst>
          </p:cNvPr>
          <p:cNvSpPr txBox="1"/>
          <p:nvPr/>
        </p:nvSpPr>
        <p:spPr>
          <a:xfrm>
            <a:off x="1414127" y="3171816"/>
            <a:ext cx="9154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fa-IR" b="0" dirty="0">
                <a:effectLst/>
                <a:cs typeface="Al Bayan Plain" pitchFamily="2" charset="-78"/>
              </a:rPr>
              <a:t>با استفاده از فرمول فوق، مربع مجموع خطا یا باقی مانده محاسبه </a:t>
            </a:r>
            <a:r>
              <a:rPr lang="fa-IR" b="0" dirty="0" err="1">
                <a:effectLst/>
                <a:cs typeface="Al Bayan Plain" pitchFamily="2" charset="-78"/>
              </a:rPr>
              <a:t>می‌شود</a:t>
            </a:r>
            <a:r>
              <a:rPr lang="fa-IR" b="0" dirty="0">
                <a:effectLst/>
                <a:cs typeface="Al Bayan Plain" pitchFamily="2" charset="-78"/>
              </a:rPr>
              <a:t>. در این رابطه، </a:t>
            </a:r>
            <a:r>
              <a:rPr lang="fa-IR" b="0" dirty="0" err="1">
                <a:effectLst/>
                <a:cs typeface="Al Bayan Plain" pitchFamily="2" charset="-78"/>
              </a:rPr>
              <a:t>نتیجه‌ای</a:t>
            </a:r>
            <a:r>
              <a:rPr lang="fa-IR" b="0" dirty="0">
                <a:effectLst/>
                <a:cs typeface="Al Bayan Plain" pitchFamily="2" charset="-78"/>
              </a:rPr>
              <a:t> که از رابطه قبلی به دست آمده بود به توان دوم </a:t>
            </a:r>
            <a:r>
              <a:rPr lang="fa-IR" b="0" dirty="0" err="1">
                <a:effectLst/>
                <a:cs typeface="Al Bayan Plain" pitchFamily="2" charset="-78"/>
              </a:rPr>
              <a:t>می‌رسد</a:t>
            </a:r>
            <a:r>
              <a:rPr lang="fa-IR" b="0" dirty="0">
                <a:effectLst/>
                <a:cs typeface="Al Bayan Plain" pitchFamily="2" charset="-78"/>
              </a:rPr>
              <a:t>. رابطه زیر </a:t>
            </a:r>
            <a:r>
              <a:rPr lang="fa-IR" b="0" dirty="0" err="1">
                <a:effectLst/>
                <a:cs typeface="Al Bayan Plain" pitchFamily="2" charset="-78"/>
              </a:rPr>
              <a:t>نشان‌دهنده</a:t>
            </a:r>
            <a:r>
              <a:rPr lang="fa-IR" b="0" dirty="0">
                <a:effectLst/>
                <a:cs typeface="Al Bayan Plain" pitchFamily="2" charset="-78"/>
              </a:rPr>
              <a:t> فرمول ریاضی خطای کلی در </a:t>
            </a:r>
            <a:r>
              <a:rPr lang="fa-IR" b="0" dirty="0" err="1">
                <a:effectLst/>
                <a:cs typeface="Al Bayan Plain" pitchFamily="2" charset="-78"/>
              </a:rPr>
              <a:t>الگوریتم</a:t>
            </a:r>
            <a:r>
              <a:rPr lang="fa-IR" b="0" dirty="0">
                <a:effectLst/>
                <a:cs typeface="Al Bayan Plain" pitchFamily="2" charset="-78"/>
              </a:rPr>
              <a:t> </a:t>
            </a:r>
            <a:r>
              <a:rPr lang="fa-IR" b="0" dirty="0" err="1">
                <a:effectLst/>
                <a:cs typeface="Al Bayan Plain" pitchFamily="2" charset="-78"/>
              </a:rPr>
              <a:t>رگرسیون</a:t>
            </a:r>
            <a:r>
              <a:rPr lang="fa-IR" b="0" dirty="0">
                <a:effectLst/>
                <a:cs typeface="Al Bayan Plain" pitchFamily="2" charset="-78"/>
              </a:rPr>
              <a:t> خطی است: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2B39D2-80A2-457A-E8BE-D75F61984E65}"/>
                  </a:ext>
                </a:extLst>
              </p:cNvPr>
              <p:cNvSpPr txBox="1"/>
              <p:nvPr/>
            </p:nvSpPr>
            <p:spPr>
              <a:xfrm>
                <a:off x="1241351" y="4095146"/>
                <a:ext cx="6097772" cy="763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`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2B39D2-80A2-457A-E8BE-D75F61984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351" y="4095146"/>
                <a:ext cx="6097772" cy="763029"/>
              </a:xfrm>
              <a:prstGeom prst="rect">
                <a:avLst/>
              </a:prstGeom>
              <a:blipFill>
                <a:blip r:embed="rId3"/>
                <a:stretch>
                  <a:fillRect t="-122951" b="-170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7207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2D633-08C5-291E-AD95-AE892283E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3B24-9A7E-B59F-A85F-829349FE7D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4" y="1203663"/>
            <a:ext cx="8361229" cy="550709"/>
          </a:xfrm>
        </p:spPr>
        <p:txBody>
          <a:bodyPr/>
          <a:lstStyle/>
          <a:p>
            <a:br>
              <a:rPr lang="fa-IR" sz="3200" dirty="0">
                <a:cs typeface="Al Bayan Plain" pitchFamily="2" charset="-78"/>
              </a:rPr>
            </a:br>
            <a:r>
              <a:rPr lang="fa-IR" sz="3200" b="1" dirty="0">
                <a:cs typeface="AL BAYAN PLAIN" pitchFamily="2" charset="-78"/>
              </a:rPr>
              <a:t>تابع زیان یا تابع هزینه </a:t>
            </a:r>
            <a:endParaRPr lang="en-US" sz="3200" dirty="0">
              <a:cs typeface="Al Bayan Plain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BDB2A-5379-46AF-F1AC-217151F90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8818" y="1891863"/>
            <a:ext cx="9354359" cy="1537138"/>
          </a:xfrm>
        </p:spPr>
        <p:txBody>
          <a:bodyPr>
            <a:noAutofit/>
          </a:bodyPr>
          <a:lstStyle/>
          <a:p>
            <a:pPr algn="r" rtl="1"/>
            <a:r>
              <a:rPr lang="fa-IR" sz="2000" dirty="0">
                <a:cs typeface="Al Bayan Plain" pitchFamily="2" charset="-78"/>
              </a:rPr>
              <a:t>تابع هزینه یا همان تابع زیان به توسعه دهندگان این امکان را </a:t>
            </a:r>
            <a:r>
              <a:rPr lang="fa-IR" sz="2000" dirty="0" err="1">
                <a:cs typeface="Al Bayan Plain" pitchFamily="2" charset="-78"/>
              </a:rPr>
              <a:t>می‌دهد</a:t>
            </a:r>
            <a:r>
              <a:rPr lang="fa-IR" sz="2000" dirty="0">
                <a:cs typeface="Al Bayan Plain" pitchFamily="2" charset="-78"/>
              </a:rPr>
              <a:t> تا با استفاده از آن بهترین مقدار ممکن را برای </a:t>
            </a:r>
            <a:r>
              <a:rPr lang="en-US" sz="2000" dirty="0">
                <a:cs typeface="Al Bayan Plain" pitchFamily="2" charset="-78"/>
              </a:rPr>
              <a:t> </a:t>
            </a:r>
            <a:r>
              <a:rPr lang="fa-IR" sz="2000" dirty="0" err="1">
                <a:cs typeface="Al Bayan Plain" pitchFamily="2" charset="-78"/>
              </a:rPr>
              <a:t>ضرائب</a:t>
            </a:r>
            <a:r>
              <a:rPr lang="fa-IR" sz="2000" dirty="0">
                <a:cs typeface="Al Bayan Plain" pitchFamily="2" charset="-78"/>
              </a:rPr>
              <a:t> پیدا کنند و بهترین و </a:t>
            </a:r>
            <a:r>
              <a:rPr lang="fa-IR" sz="2000" dirty="0" err="1">
                <a:cs typeface="Al Bayan Plain" pitchFamily="2" charset="-78"/>
              </a:rPr>
              <a:t>مناسب‌ترین</a:t>
            </a:r>
            <a:r>
              <a:rPr lang="fa-IR" sz="2000" dirty="0">
                <a:cs typeface="Al Bayan Plain" pitchFamily="2" charset="-78"/>
              </a:rPr>
              <a:t> خط برازش را برای نقاط داده فراهم </a:t>
            </a:r>
            <a:r>
              <a:rPr lang="fa-IR" sz="2000" dirty="0" err="1">
                <a:cs typeface="Al Bayan Plain" pitchFamily="2" charset="-78"/>
              </a:rPr>
              <a:t>می‌کند</a:t>
            </a:r>
            <a:r>
              <a:rPr lang="fa-IR" sz="2000" dirty="0">
                <a:cs typeface="Al Bayan Plain" pitchFamily="2" charset="-78"/>
              </a:rPr>
              <a:t>. از </a:t>
            </a:r>
            <a:r>
              <a:rPr lang="fa-IR" sz="2000" dirty="0" err="1">
                <a:cs typeface="Al Bayan Plain" pitchFamily="2" charset="-78"/>
              </a:rPr>
              <a:t>آن‌جایی</a:t>
            </a:r>
            <a:r>
              <a:rPr lang="fa-IR" sz="2000" dirty="0">
                <a:cs typeface="Al Bayan Plain" pitchFamily="2" charset="-78"/>
              </a:rPr>
              <a:t> که مدل نیازمند بهترین مقدار برای </a:t>
            </a:r>
            <a:r>
              <a:rPr lang="en-US" sz="2000" dirty="0">
                <a:cs typeface="Al Bayan Plain" pitchFamily="2" charset="-78"/>
              </a:rPr>
              <a:t> </a:t>
            </a:r>
            <a:r>
              <a:rPr lang="fa-IR" sz="2000" dirty="0" err="1">
                <a:cs typeface="Al Bayan Plain" pitchFamily="2" charset="-78"/>
              </a:rPr>
              <a:t>ضرائب</a:t>
            </a:r>
            <a:r>
              <a:rPr lang="fa-IR" sz="2000" dirty="0">
                <a:cs typeface="Al Bayan Plain" pitchFamily="2" charset="-78"/>
              </a:rPr>
              <a:t> متغیر های مستقل است، </a:t>
            </a:r>
            <a:r>
              <a:rPr lang="fa-IR" sz="2000" dirty="0" err="1">
                <a:cs typeface="Al Bayan Plain" pitchFamily="2" charset="-78"/>
              </a:rPr>
              <a:t>می‌توان</a:t>
            </a:r>
            <a:r>
              <a:rPr lang="fa-IR" sz="2000" dirty="0">
                <a:cs typeface="Al Bayan Plain" pitchFamily="2" charset="-78"/>
              </a:rPr>
              <a:t> این مسئله را به عنوان یک مسئله </a:t>
            </a:r>
            <a:r>
              <a:rPr lang="fa-IR" sz="2000" dirty="0" err="1">
                <a:cs typeface="Al Bayan Plain" pitchFamily="2" charset="-78"/>
              </a:rPr>
              <a:t>کمینه‌سازی</a:t>
            </a:r>
            <a:r>
              <a:rPr lang="fa-IR" sz="2000" dirty="0">
                <a:cs typeface="Al Bayan Plain" pitchFamily="2" charset="-78"/>
              </a:rPr>
              <a:t> در نظر گرفت و خطای بین مقدار واقعی و مقدار </a:t>
            </a:r>
            <a:r>
              <a:rPr lang="fa-IR" sz="2000" dirty="0" err="1">
                <a:cs typeface="Al Bayan Plain" pitchFamily="2" charset="-78"/>
              </a:rPr>
              <a:t>پیش‌بینی</a:t>
            </a:r>
            <a:r>
              <a:rPr lang="fa-IR" sz="2000" dirty="0">
                <a:cs typeface="Al Bayan Plain" pitchFamily="2" charset="-78"/>
              </a:rPr>
              <a:t> شده را به حداقل رساند.</a:t>
            </a:r>
            <a:endParaRPr lang="fa-IR" sz="2000" b="1" dirty="0">
              <a:cs typeface="AL BAYAN PLAIN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CA064E-9B1E-CC70-6B96-0FB104FE6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384" y="3566492"/>
            <a:ext cx="38354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58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DA7FD-FC66-72E2-A2C4-DE9348B43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DB6B6CF-70E4-1E9B-D61B-9B5FA56AC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1343099"/>
            <a:ext cx="3721100" cy="1003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C6CED4-8E9E-C6F1-F365-B445E7B39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2346399"/>
            <a:ext cx="3721100" cy="1003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B8B305-7E9C-3862-8C8B-90FE7B9A3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3349699"/>
            <a:ext cx="3721100" cy="10033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D7AF14-479F-F8B4-7241-CDDB7FAFA14C}"/>
              </a:ext>
            </a:extLst>
          </p:cNvPr>
          <p:cNvSpPr txBox="1"/>
          <p:nvPr/>
        </p:nvSpPr>
        <p:spPr>
          <a:xfrm>
            <a:off x="5401340" y="1446326"/>
            <a:ext cx="54063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000" b="1" dirty="0">
                <a:cs typeface="AL BAYAN PLAIN" pitchFamily="2" charset="-78"/>
              </a:rPr>
              <a:t>میانگین مربع خطا</a:t>
            </a:r>
            <a:endParaRPr lang="en-US" sz="2000" b="1" dirty="0">
              <a:cs typeface="AL BAYAN PLAIN" pitchFamily="2" charset="-78"/>
            </a:endParaRPr>
          </a:p>
          <a:p>
            <a:pPr algn="r" rtl="1"/>
            <a:r>
              <a:rPr lang="fa-IR" sz="2000" dirty="0">
                <a:cs typeface="Al Bayan Plain" pitchFamily="2" charset="-78"/>
              </a:rPr>
              <a:t>چی </a:t>
            </a:r>
            <a:r>
              <a:rPr lang="fa-IR" sz="2000" dirty="0" err="1">
                <a:cs typeface="Al Bayan Plain" pitchFamily="2" charset="-78"/>
              </a:rPr>
              <a:t>می‌سنجه</a:t>
            </a:r>
            <a:r>
              <a:rPr lang="fa-IR" sz="2000" dirty="0">
                <a:cs typeface="Al Bayan Plain" pitchFamily="2" charset="-78"/>
              </a:rPr>
              <a:t>؟ </a:t>
            </a:r>
            <a:r>
              <a:rPr lang="fa-IR" sz="2000" dirty="0" err="1">
                <a:cs typeface="Al Bayan Plain" pitchFamily="2" charset="-78"/>
              </a:rPr>
              <a:t>میانگینِ</a:t>
            </a:r>
            <a:r>
              <a:rPr lang="fa-IR" sz="2000" dirty="0">
                <a:cs typeface="Al Bayan Plain" pitchFamily="2" charset="-78"/>
              </a:rPr>
              <a:t> مربع تفاوت بین مقدار واقعی و </a:t>
            </a:r>
            <a:r>
              <a:rPr lang="fa-IR" sz="2000" dirty="0" err="1">
                <a:cs typeface="Al Bayan Plain" pitchFamily="2" charset="-78"/>
              </a:rPr>
              <a:t>پیش‌بینی‌شده</a:t>
            </a:r>
            <a:r>
              <a:rPr lang="fa-IR" sz="2000" dirty="0">
                <a:cs typeface="Al Bayan Plain" pitchFamily="2" charset="-78"/>
              </a:rPr>
              <a:t>. چون مربع </a:t>
            </a:r>
            <a:r>
              <a:rPr lang="fa-IR" sz="2000" dirty="0" err="1">
                <a:cs typeface="Al Bayan Plain" pitchFamily="2" charset="-78"/>
              </a:rPr>
              <a:t>می‌گیریم</a:t>
            </a:r>
            <a:r>
              <a:rPr lang="fa-IR" sz="2000" dirty="0">
                <a:cs typeface="Al Bayan Plain" pitchFamily="2" charset="-78"/>
              </a:rPr>
              <a:t>، خطاهای بزرگ خیلی بیشتر جریمه </a:t>
            </a:r>
            <a:r>
              <a:rPr lang="fa-IR" sz="2000" dirty="0" err="1">
                <a:cs typeface="Al Bayan Plain" pitchFamily="2" charset="-78"/>
              </a:rPr>
              <a:t>می‌شن</a:t>
            </a:r>
            <a:r>
              <a:rPr lang="fa-IR" sz="2000" dirty="0">
                <a:cs typeface="Al Bayan Plain" pitchFamily="2" charset="-78"/>
              </a:rPr>
              <a:t>. </a:t>
            </a:r>
            <a:r>
              <a:rPr lang="fa-IR" sz="2000" dirty="0" err="1">
                <a:cs typeface="Al Bayan Plain" pitchFamily="2" charset="-78"/>
              </a:rPr>
              <a:t>هرچی</a:t>
            </a:r>
            <a:r>
              <a:rPr lang="fa-IR" sz="2000" dirty="0">
                <a:cs typeface="Al Bayan Plain" pitchFamily="2" charset="-78"/>
              </a:rPr>
              <a:t> </a:t>
            </a:r>
            <a:r>
              <a:rPr lang="en-GB" sz="2000" dirty="0">
                <a:cs typeface="Al Bayan Plain" pitchFamily="2" charset="-78"/>
              </a:rPr>
              <a:t>MSE </a:t>
            </a:r>
            <a:r>
              <a:rPr lang="fa-IR" sz="2000" dirty="0" err="1">
                <a:cs typeface="Al Bayan Plain" pitchFamily="2" charset="-78"/>
              </a:rPr>
              <a:t>کوچک‌تر</a:t>
            </a:r>
            <a:r>
              <a:rPr lang="fa-IR" sz="2000" dirty="0">
                <a:cs typeface="Al Bayan Plain" pitchFamily="2" charset="-78"/>
              </a:rPr>
              <a:t>، مدل بهتر. </a:t>
            </a:r>
            <a:endParaRPr lang="en-US" sz="2000" dirty="0">
              <a:cs typeface="Al Bayan Plain" pitchFamily="2" charset="-78"/>
            </a:endParaRPr>
          </a:p>
          <a:p>
            <a:pPr algn="r" rtl="1"/>
            <a:endParaRPr lang="en-US" sz="2000" dirty="0">
              <a:cs typeface="Al Bayan Plain" pitchFamily="2" charset="-78"/>
            </a:endParaRPr>
          </a:p>
          <a:p>
            <a:pPr algn="r" rtl="1"/>
            <a:endParaRPr lang="en-US" sz="2000" dirty="0">
              <a:cs typeface="Al Bayan Plain" pitchFamily="2" charset="-78"/>
            </a:endParaRPr>
          </a:p>
          <a:p>
            <a:pPr algn="r" rtl="1"/>
            <a:r>
              <a:rPr lang="fa-IR" sz="2000" dirty="0" err="1">
                <a:cs typeface="Al Bayan Plain" pitchFamily="2" charset="-78"/>
              </a:rPr>
              <a:t>نکته‌ها</a:t>
            </a:r>
            <a:r>
              <a:rPr lang="fa-IR" sz="2000" dirty="0">
                <a:cs typeface="Al Bayan Plain" pitchFamily="2" charset="-78"/>
              </a:rPr>
              <a:t>: به </a:t>
            </a:r>
            <a:r>
              <a:rPr lang="fa-IR" sz="2000" dirty="0" err="1">
                <a:cs typeface="Al Bayan Plain" pitchFamily="2" charset="-78"/>
              </a:rPr>
              <a:t>واحدِ</a:t>
            </a:r>
            <a:r>
              <a:rPr lang="fa-IR" sz="2000" dirty="0">
                <a:cs typeface="Al Bayan Plain" pitchFamily="2" charset="-78"/>
              </a:rPr>
              <a:t> هدف </a:t>
            </a:r>
            <a:r>
              <a:rPr lang="fa-IR" sz="2000" i="1" dirty="0">
                <a:cs typeface="AL BAYAN PLAIN" pitchFamily="2" charset="-78"/>
              </a:rPr>
              <a:t>مربع</a:t>
            </a:r>
            <a:r>
              <a:rPr lang="fa-IR" sz="2000" dirty="0">
                <a:cs typeface="Al Bayan Plain" pitchFamily="2" charset="-78"/>
              </a:rPr>
              <a:t> است (مثلاً اگر قیمت به تومان است، </a:t>
            </a:r>
            <a:r>
              <a:rPr lang="en-GB" sz="2000" dirty="0">
                <a:cs typeface="Al Bayan Plain" pitchFamily="2" charset="-78"/>
              </a:rPr>
              <a:t>MSE </a:t>
            </a:r>
            <a:r>
              <a:rPr lang="fa-IR" sz="2000" dirty="0">
                <a:cs typeface="Al Bayan Plain" pitchFamily="2" charset="-78"/>
              </a:rPr>
              <a:t>به تومان²).</a:t>
            </a:r>
            <a:endParaRPr lang="en-US" sz="2000" dirty="0">
              <a:cs typeface="Al Bayan Plain" pitchFamily="2" charset="-78"/>
            </a:endParaRPr>
          </a:p>
          <a:p>
            <a:pPr algn="r" rtl="1"/>
            <a:r>
              <a:rPr lang="fa-IR" sz="2000" dirty="0">
                <a:cs typeface="Al Bayan Plain" pitchFamily="2" charset="-78"/>
              </a:rPr>
              <a:t>به </a:t>
            </a:r>
            <a:r>
              <a:rPr lang="fa-IR" sz="2000" dirty="0" err="1">
                <a:cs typeface="Al Bayan Plain" pitchFamily="2" charset="-78"/>
              </a:rPr>
              <a:t>داده‌های</a:t>
            </a:r>
            <a:r>
              <a:rPr lang="fa-IR" sz="2000" dirty="0">
                <a:cs typeface="Al Bayan Plain" pitchFamily="2" charset="-78"/>
              </a:rPr>
              <a:t> پرت </a:t>
            </a:r>
            <a:r>
              <a:rPr lang="en-GB" sz="2000" dirty="0">
                <a:cs typeface="Al Bayan Plain" pitchFamily="2" charset="-78"/>
              </a:rPr>
              <a:t>outlier </a:t>
            </a:r>
            <a:r>
              <a:rPr lang="fa-IR" sz="2000" dirty="0">
                <a:cs typeface="Al Bayan Plain" pitchFamily="2" charset="-78"/>
              </a:rPr>
              <a:t>حساس است. </a:t>
            </a:r>
            <a:endParaRPr lang="en-US" sz="2000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5922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F299C-115B-0558-29B9-953258422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AAA7BB-72D4-F592-3D21-F7B792D34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1343099"/>
            <a:ext cx="3721100" cy="1003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70A1FD-F782-46DD-3F68-2F3931D29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2346399"/>
            <a:ext cx="3721100" cy="1003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7ADD84-AF47-6E64-1BA3-9D62C1AFE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3349699"/>
            <a:ext cx="3721100" cy="10033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2D92D3-D7EE-CD61-EC64-06ABEF54105B}"/>
              </a:ext>
            </a:extLst>
          </p:cNvPr>
          <p:cNvSpPr txBox="1"/>
          <p:nvPr/>
        </p:nvSpPr>
        <p:spPr>
          <a:xfrm>
            <a:off x="5401340" y="1446326"/>
            <a:ext cx="54063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000" b="1" dirty="0" err="1">
                <a:cs typeface="AL BAYAN PLAIN" pitchFamily="2" charset="-78"/>
              </a:rPr>
              <a:t>ریشهٔ</a:t>
            </a:r>
            <a:r>
              <a:rPr lang="fa-IR" sz="2000" b="1" dirty="0">
                <a:cs typeface="AL BAYAN PLAIN" pitchFamily="2" charset="-78"/>
              </a:rPr>
              <a:t> میانگین مربع خطا</a:t>
            </a:r>
            <a:endParaRPr lang="en-US" sz="2000" b="1" dirty="0">
              <a:cs typeface="AL BAYAN PLAIN" pitchFamily="2" charset="-78"/>
            </a:endParaRPr>
          </a:p>
          <a:p>
            <a:pPr algn="r" rtl="1"/>
            <a:endParaRPr lang="fa-IR" sz="2000" dirty="0">
              <a:cs typeface="Al Bayan Plain" pitchFamily="2" charset="-78"/>
            </a:endParaRPr>
          </a:p>
          <a:p>
            <a:pPr algn="r" rtl="1"/>
            <a:r>
              <a:rPr lang="fa-IR" sz="2000" dirty="0">
                <a:cs typeface="Al Bayan Plain" pitchFamily="2" charset="-78"/>
              </a:rPr>
              <a:t>چی </a:t>
            </a:r>
            <a:r>
              <a:rPr lang="fa-IR" sz="2000" dirty="0" err="1">
                <a:cs typeface="Al Bayan Plain" pitchFamily="2" charset="-78"/>
              </a:rPr>
              <a:t>می‌سنجه</a:t>
            </a:r>
            <a:r>
              <a:rPr lang="fa-IR" sz="2000" dirty="0">
                <a:cs typeface="Al Bayan Plain" pitchFamily="2" charset="-78"/>
              </a:rPr>
              <a:t>؟ </a:t>
            </a:r>
            <a:r>
              <a:rPr lang="fa-IR" sz="2000" dirty="0" err="1">
                <a:cs typeface="Al Bayan Plain" pitchFamily="2" charset="-78"/>
              </a:rPr>
              <a:t>ریشهٔ</a:t>
            </a:r>
            <a:r>
              <a:rPr lang="fa-IR" sz="2000" dirty="0">
                <a:cs typeface="Al Bayan Plain" pitchFamily="2" charset="-78"/>
              </a:rPr>
              <a:t> </a:t>
            </a:r>
            <a:r>
              <a:rPr lang="fa-IR" sz="2000" dirty="0" err="1">
                <a:cs typeface="Al Bayan Plain" pitchFamily="2" charset="-78"/>
              </a:rPr>
              <a:t>دومِ</a:t>
            </a:r>
            <a:r>
              <a:rPr lang="fa-IR" sz="2000" dirty="0">
                <a:cs typeface="Al Bayan Plain" pitchFamily="2" charset="-78"/>
              </a:rPr>
              <a:t> </a:t>
            </a:r>
            <a:r>
              <a:rPr lang="en-GB" sz="2000" dirty="0">
                <a:cs typeface="Al Bayan Plain" pitchFamily="2" charset="-78"/>
              </a:rPr>
              <a:t>MSE؛ </a:t>
            </a:r>
            <a:r>
              <a:rPr lang="fa-IR" sz="2000" dirty="0">
                <a:cs typeface="Al Bayan Plain" pitchFamily="2" charset="-78"/>
              </a:rPr>
              <a:t>همان </a:t>
            </a:r>
            <a:r>
              <a:rPr lang="fa-IR" sz="2000" dirty="0" err="1">
                <a:cs typeface="Al Bayan Plain" pitchFamily="2" charset="-78"/>
              </a:rPr>
              <a:t>ایدهٔ</a:t>
            </a:r>
            <a:r>
              <a:rPr lang="fa-IR" sz="2000" dirty="0">
                <a:cs typeface="Al Bayan Plain" pitchFamily="2" charset="-78"/>
              </a:rPr>
              <a:t> </a:t>
            </a:r>
            <a:r>
              <a:rPr lang="en-US" sz="2000" dirty="0">
                <a:cs typeface="Al Bayan Plain" pitchFamily="2" charset="-78"/>
              </a:rPr>
              <a:t> </a:t>
            </a:r>
            <a:r>
              <a:rPr lang="en-GB" sz="2000" dirty="0">
                <a:cs typeface="Al Bayan Plain" pitchFamily="2" charset="-78"/>
              </a:rPr>
              <a:t>MSE </a:t>
            </a:r>
            <a:r>
              <a:rPr lang="fa-IR" sz="2000" dirty="0">
                <a:cs typeface="Al Bayan Plain" pitchFamily="2" charset="-78"/>
              </a:rPr>
              <a:t>اما خروجی دوباره </a:t>
            </a:r>
            <a:r>
              <a:rPr lang="fa-IR" sz="2000" dirty="0" err="1">
                <a:cs typeface="Al Bayan Plain" pitchFamily="2" charset="-78"/>
              </a:rPr>
              <a:t>هم‌واحدِ</a:t>
            </a:r>
            <a:r>
              <a:rPr lang="fa-IR" sz="2000" dirty="0">
                <a:cs typeface="Al Bayan Plain" pitchFamily="2" charset="-78"/>
              </a:rPr>
              <a:t> هدف است (</a:t>
            </a:r>
            <a:r>
              <a:rPr lang="fa-IR" sz="2000" dirty="0" err="1">
                <a:cs typeface="Al Bayan Plain" pitchFamily="2" charset="-78"/>
              </a:rPr>
              <a:t>قابل‌فهم‌تر</a:t>
            </a:r>
            <a:r>
              <a:rPr lang="fa-IR" sz="2000" dirty="0">
                <a:cs typeface="Al Bayan Plain" pitchFamily="2" charset="-78"/>
              </a:rPr>
              <a:t>: “خطای معمولاً چقدر است؟”).</a:t>
            </a:r>
            <a:endParaRPr lang="en-US" sz="2000" dirty="0">
              <a:cs typeface="Al Bayan Plain" pitchFamily="2" charset="-78"/>
            </a:endParaRPr>
          </a:p>
          <a:p>
            <a:pPr algn="r" rtl="1"/>
            <a:endParaRPr lang="en-US" sz="2000" dirty="0">
              <a:cs typeface="Al Bayan Plain" pitchFamily="2" charset="-78"/>
            </a:endParaRPr>
          </a:p>
          <a:p>
            <a:pPr algn="r" rtl="1"/>
            <a:r>
              <a:rPr lang="fa-IR" sz="2000" dirty="0">
                <a:cs typeface="Al Bayan Plain" pitchFamily="2" charset="-78"/>
              </a:rPr>
              <a:t> </a:t>
            </a:r>
            <a:r>
              <a:rPr lang="fa-IR" sz="2000" dirty="0" err="1">
                <a:cs typeface="Al Bayan Plain" pitchFamily="2" charset="-78"/>
              </a:rPr>
              <a:t>نکته‌ها</a:t>
            </a:r>
            <a:r>
              <a:rPr lang="fa-IR" sz="2000" dirty="0">
                <a:cs typeface="Al Bayan Plain" pitchFamily="2" charset="-78"/>
              </a:rPr>
              <a:t>: مثل </a:t>
            </a:r>
            <a:r>
              <a:rPr lang="en-GB" sz="2000" dirty="0">
                <a:cs typeface="Al Bayan Plain" pitchFamily="2" charset="-78"/>
              </a:rPr>
              <a:t>MSE </a:t>
            </a:r>
            <a:r>
              <a:rPr lang="fa-IR" sz="2000" dirty="0">
                <a:cs typeface="Al Bayan Plain" pitchFamily="2" charset="-78"/>
              </a:rPr>
              <a:t>به </a:t>
            </a:r>
            <a:r>
              <a:rPr lang="fa-IR" sz="2000" dirty="0" err="1">
                <a:cs typeface="Al Bayan Plain" pitchFamily="2" charset="-78"/>
              </a:rPr>
              <a:t>پرت‌ها</a:t>
            </a:r>
            <a:r>
              <a:rPr lang="fa-IR" sz="2000" dirty="0">
                <a:cs typeface="Al Bayan Plain" pitchFamily="2" charset="-78"/>
              </a:rPr>
              <a:t> حساس است؛</a:t>
            </a:r>
            <a:endParaRPr lang="en-US" sz="2000" dirty="0">
              <a:cs typeface="Al Bayan Plain" pitchFamily="2" charset="-78"/>
            </a:endParaRPr>
          </a:p>
          <a:p>
            <a:pPr algn="r" rtl="1"/>
            <a:r>
              <a:rPr lang="fa-IR" sz="2000" dirty="0">
                <a:cs typeface="Al Bayan Plain" pitchFamily="2" charset="-78"/>
              </a:rPr>
              <a:t>تفسیرش </a:t>
            </a:r>
            <a:r>
              <a:rPr lang="fa-IR" sz="2000" dirty="0" err="1">
                <a:cs typeface="Al Bayan Plain" pitchFamily="2" charset="-78"/>
              </a:rPr>
              <a:t>راحت‌تر</a:t>
            </a:r>
            <a:r>
              <a:rPr lang="fa-IR" sz="2000" dirty="0">
                <a:cs typeface="Al Bayan Plain" pitchFamily="2" charset="-78"/>
              </a:rPr>
              <a:t> چون </a:t>
            </a:r>
            <a:r>
              <a:rPr lang="fa-IR" sz="2000" dirty="0" err="1">
                <a:cs typeface="Al Bayan Plain" pitchFamily="2" charset="-78"/>
              </a:rPr>
              <a:t>هم‌واحد</a:t>
            </a:r>
            <a:r>
              <a:rPr lang="fa-IR" sz="2000" dirty="0">
                <a:cs typeface="Al Bayan Plain" pitchFamily="2" charset="-78"/>
              </a:rPr>
              <a:t> با متغیر هدف است (مثلاً «حدوداً ۵ واحد خطا»). </a:t>
            </a:r>
            <a:endParaRPr lang="en-US" sz="2000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28002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061E7-8A3A-424D-72DA-1EB585B4C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882906-B4B0-C2EF-E336-734B21AB7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1343099"/>
            <a:ext cx="3721100" cy="1003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33C365-98A4-ECEB-60EE-77A59F396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2346399"/>
            <a:ext cx="3721100" cy="1003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0D6EEF-EA48-D471-7087-83700979E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3349699"/>
            <a:ext cx="3721100" cy="10033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F35965-F940-D1FA-A884-8689CE5A1CEA}"/>
                  </a:ext>
                </a:extLst>
              </p:cNvPr>
              <p:cNvSpPr txBox="1"/>
              <p:nvPr/>
            </p:nvSpPr>
            <p:spPr>
              <a:xfrm>
                <a:off x="5401340" y="1590602"/>
                <a:ext cx="5406360" cy="2568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:endParaRPr lang="en-US" sz="2000" dirty="0">
                  <a:cs typeface="Al Bayan Plain" pitchFamily="2" charset="-78"/>
                </a:endParaRPr>
              </a:p>
              <a:p>
                <a:pPr algn="r" rtl="1"/>
                <a:r>
                  <a:rPr lang="en-GB" sz="2000" b="1" dirty="0">
                    <a:cs typeface="AL BAYAN PLAIN" pitchFamily="2" charset="-78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1" i="1" dirty="0" smtClean="0">
                            <a:latin typeface="Cambria Math" panose="02040503050406030204" pitchFamily="18" charset="0"/>
                            <a:cs typeface="AL BAYAN PLAIN" pitchFamily="2" charset="-78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AL BAYAN PLAIN" pitchFamily="2" charset="-78"/>
                          </a:rPr>
                          <m:t>𝑹</m:t>
                        </m:r>
                      </m:e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AL BAYAN PLAIN" pitchFamily="2" charset="-78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2000" b="1" dirty="0">
                    <a:cs typeface="AL BAYAN PLAIN" pitchFamily="2" charset="-78"/>
                  </a:rPr>
                  <a:t>) </a:t>
                </a:r>
                <a:r>
                  <a:rPr lang="fa-IR" sz="2000" b="1" dirty="0">
                    <a:cs typeface="AL BAYAN PLAIN" pitchFamily="2" charset="-78"/>
                  </a:rPr>
                  <a:t>ضریب تعیین</a:t>
                </a:r>
                <a:endParaRPr lang="fa-IR" sz="2000" dirty="0">
                  <a:cs typeface="Al Bayan Plain" pitchFamily="2" charset="-78"/>
                </a:endParaRPr>
              </a:p>
              <a:p>
                <a:pPr algn="r" rtl="1"/>
                <a:r>
                  <a:rPr lang="fa-IR" sz="2000" dirty="0">
                    <a:cs typeface="Al Bayan Plain" pitchFamily="2" charset="-78"/>
                  </a:rPr>
                  <a:t>چی </a:t>
                </a:r>
                <a:r>
                  <a:rPr lang="fa-IR" sz="2000" dirty="0" err="1">
                    <a:cs typeface="Al Bayan Plain" pitchFamily="2" charset="-78"/>
                  </a:rPr>
                  <a:t>می‌گه</a:t>
                </a:r>
                <a:r>
                  <a:rPr lang="fa-IR" sz="2000" dirty="0">
                    <a:cs typeface="Al Bayan Plain" pitchFamily="2" charset="-78"/>
                  </a:rPr>
                  <a:t>؟ </a:t>
                </a:r>
                <a:r>
                  <a:rPr lang="fa-IR" sz="2000" dirty="0" err="1">
                    <a:cs typeface="Al Bayan Plain" pitchFamily="2" charset="-78"/>
                  </a:rPr>
                  <a:t>سهمِ</a:t>
                </a:r>
                <a:r>
                  <a:rPr lang="fa-IR" sz="2000" dirty="0">
                    <a:cs typeface="Al Bayan Plain" pitchFamily="2" charset="-78"/>
                  </a:rPr>
                  <a:t> </a:t>
                </a:r>
                <a:r>
                  <a:rPr lang="fa-IR" sz="2000" dirty="0" err="1">
                    <a:cs typeface="Al Bayan Plain" pitchFamily="2" charset="-78"/>
                  </a:rPr>
                  <a:t>واریانسِ</a:t>
                </a:r>
                <a:r>
                  <a:rPr lang="fa-IR" sz="2000" dirty="0">
                    <a:cs typeface="Al Bayan Plain" pitchFamily="2" charset="-78"/>
                  </a:rPr>
                  <a:t> (پراکندگی) هدف که توسط مدل توضیح داده </a:t>
                </a:r>
                <a:r>
                  <a:rPr lang="fa-IR" sz="2000" dirty="0" err="1">
                    <a:cs typeface="Al Bayan Plain" pitchFamily="2" charset="-78"/>
                  </a:rPr>
                  <a:t>می‌شود</a:t>
                </a:r>
                <a:r>
                  <a:rPr lang="fa-IR" sz="2000" dirty="0">
                    <a:cs typeface="Al Bayan Plain" pitchFamily="2" charset="-78"/>
                  </a:rPr>
                  <a:t>؛ بین ۰ و ۱ </a:t>
                </a:r>
                <a:r>
                  <a:rPr lang="fa-IR" sz="2000" b="1" dirty="0">
                    <a:cs typeface="AL BAYAN PLAIN" pitchFamily="2" charset="-78"/>
                  </a:rPr>
                  <a:t>(و گاهی </a:t>
                </a:r>
                <a:r>
                  <a:rPr lang="fa-IR" sz="2000" b="1" dirty="0" err="1">
                    <a:cs typeface="AL BAYAN PLAIN" pitchFamily="2" charset="-78"/>
                  </a:rPr>
                  <a:t>می‌تواند</a:t>
                </a:r>
                <a:r>
                  <a:rPr lang="fa-IR" sz="2000" b="1" dirty="0">
                    <a:cs typeface="AL BAYAN PLAIN" pitchFamily="2" charset="-78"/>
                  </a:rPr>
                  <a:t> منفی شود اگر مدل از </a:t>
                </a:r>
                <a:r>
                  <a:rPr lang="fa-IR" sz="2000" b="1" dirty="0" err="1">
                    <a:cs typeface="AL BAYAN PLAIN" pitchFamily="2" charset="-78"/>
                  </a:rPr>
                  <a:t>پیش‌بینیِ</a:t>
                </a:r>
                <a:r>
                  <a:rPr lang="fa-IR" sz="2000" b="1" dirty="0">
                    <a:cs typeface="AL BAYAN PLAIN" pitchFamily="2" charset="-78"/>
                  </a:rPr>
                  <a:t> “</a:t>
                </a:r>
                <a:r>
                  <a:rPr lang="fa-IR" sz="2000" b="1" dirty="0" err="1">
                    <a:cs typeface="AL BAYAN PLAIN" pitchFamily="2" charset="-78"/>
                  </a:rPr>
                  <a:t>میانگینِ</a:t>
                </a:r>
                <a:r>
                  <a:rPr lang="fa-IR" sz="2000" b="1" dirty="0">
                    <a:cs typeface="AL BAYAN PLAIN" pitchFamily="2" charset="-78"/>
                  </a:rPr>
                  <a:t> ساده” هم بدتر باشد)</a:t>
                </a:r>
                <a:r>
                  <a:rPr lang="fa-IR" sz="2000" dirty="0">
                    <a:cs typeface="Al Bayan Plain" pitchFamily="2" charset="-78"/>
                  </a:rPr>
                  <a:t>. مقدار ۱ یعنی برازش عالی، ۰ یعنی مدل از میانگین بهتر نیست. </a:t>
                </a:r>
              </a:p>
              <a:p>
                <a:pPr algn="r" rtl="1"/>
                <a:endParaRPr lang="en-US" sz="2000" dirty="0">
                  <a:cs typeface="Al Bayan Plain" pitchFamily="2" charset="-78"/>
                </a:endParaRPr>
              </a:p>
              <a:p>
                <a:pPr algn="r" rtl="1"/>
                <a:r>
                  <a:rPr lang="fa-IR" sz="2000" dirty="0">
                    <a:cs typeface="Al Bayan Plain" pitchFamily="2" charset="-78"/>
                  </a:rPr>
                  <a:t>اگر </a:t>
                </a:r>
                <a:r>
                  <a:rPr lang="fa-IR" sz="2000" dirty="0" err="1">
                    <a:cs typeface="Al Bayan Plain" pitchFamily="2" charset="-78"/>
                  </a:rPr>
                  <a:t>باقیمانده‌ها</a:t>
                </a:r>
                <a:r>
                  <a:rPr lang="fa-IR" sz="2000" dirty="0">
                    <a:cs typeface="Al Bayan Plain" pitchFamily="2" charset="-78"/>
                  </a:rPr>
                  <a:t> (خطاها) کوچک شوند،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1" i="1" dirty="0">
                            <a:latin typeface="Cambria Math" panose="02040503050406030204" pitchFamily="18" charset="0"/>
                            <a:cs typeface="AL BAYAN PLAIN" pitchFamily="2" charset="-78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AL BAYAN PLAIN" pitchFamily="2" charset="-78"/>
                          </a:rPr>
                          <m:t> 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  <a:cs typeface="AL BAYAN PLAIN" pitchFamily="2" charset="-78"/>
                          </a:rPr>
                          <m:t>𝑹</m:t>
                        </m:r>
                      </m:e>
                      <m:sup>
                        <m:r>
                          <a:rPr lang="en-US" sz="2000" b="1" i="1" dirty="0">
                            <a:latin typeface="Cambria Math" panose="02040503050406030204" pitchFamily="18" charset="0"/>
                            <a:cs typeface="AL BAYAN PLAIN" pitchFamily="2" charset="-78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2000" dirty="0">
                    <a:cs typeface="Al Bayan Plain" pitchFamily="2" charset="-78"/>
                  </a:rPr>
                  <a:t> </a:t>
                </a:r>
                <a:r>
                  <a:rPr lang="fa-IR" sz="2000" dirty="0">
                    <a:cs typeface="Al Bayan Plain" pitchFamily="2" charset="-78"/>
                  </a:rPr>
                  <a:t>به ۱ نزدیک </a:t>
                </a:r>
                <a:r>
                  <a:rPr lang="fa-IR" sz="2000" dirty="0" err="1">
                    <a:cs typeface="Al Bayan Plain" pitchFamily="2" charset="-78"/>
                  </a:rPr>
                  <a:t>می‌شود</a:t>
                </a:r>
                <a:r>
                  <a:rPr lang="fa-IR" sz="2000" dirty="0">
                    <a:cs typeface="Al Bayan Plain" pitchFamily="2" charset="-78"/>
                  </a:rPr>
                  <a:t>. </a:t>
                </a:r>
                <a:endParaRPr lang="en-US" sz="2000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7F35965-F940-D1FA-A884-8689CE5A1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340" y="1590602"/>
                <a:ext cx="5406360" cy="2568524"/>
              </a:xfrm>
              <a:prstGeom prst="rect">
                <a:avLst/>
              </a:prstGeom>
              <a:blipFill>
                <a:blip r:embed="rId5"/>
                <a:stretch>
                  <a:fillRect l="-937" r="-937" b="-3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747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FAC40-2AB6-7E2D-1A3B-9CD7FB794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8EE32C-E85F-DE8B-DEC4-1BAD4CF54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1343099"/>
            <a:ext cx="3721100" cy="1003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4C44A7-B199-1B8C-FF51-BDDD4FBBF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2346399"/>
            <a:ext cx="3721100" cy="1003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2002C4-8D80-80A8-5942-DB8D27E7B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3349699"/>
            <a:ext cx="3721100" cy="10033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4834AB-689D-2E79-63FA-F109EC8F2F79}"/>
                  </a:ext>
                </a:extLst>
              </p:cNvPr>
              <p:cNvSpPr txBox="1"/>
              <p:nvPr/>
            </p:nvSpPr>
            <p:spPr>
              <a:xfrm>
                <a:off x="5401340" y="1343099"/>
                <a:ext cx="5406360" cy="3484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:endParaRPr lang="en-US" sz="2000" b="1" dirty="0">
                  <a:cs typeface="AL BAYAN PLAIN" pitchFamily="2" charset="-78"/>
                </a:endParaRPr>
              </a:p>
              <a:p>
                <a:pPr algn="r" rtl="1"/>
                <a:r>
                  <a:rPr lang="fa-IR" sz="2000" b="1" dirty="0">
                    <a:cs typeface="AL BAYAN PLAIN" pitchFamily="2" charset="-78"/>
                  </a:rPr>
                  <a:t>کی از کدوم ارزیابی استفاده کنیم؟</a:t>
                </a:r>
              </a:p>
              <a:p>
                <a:pPr algn="r" rtl="1"/>
                <a:endParaRPr lang="fa-IR" sz="2000" dirty="0">
                  <a:cs typeface="Al Bayan Plain" pitchFamily="2" charset="-78"/>
                </a:endParaRPr>
              </a:p>
              <a:p>
                <a:pPr algn="r" rtl="1"/>
                <a:r>
                  <a:rPr lang="fa-IR" sz="2000" dirty="0">
                    <a:cs typeface="Al Bayan Plain" pitchFamily="2" charset="-78"/>
                  </a:rPr>
                  <a:t>اگر </a:t>
                </a:r>
                <a:r>
                  <a:rPr lang="fa-IR" sz="2000" dirty="0" err="1">
                    <a:cs typeface="Al Bayan Plain" pitchFamily="2" charset="-78"/>
                  </a:rPr>
                  <a:t>می‌خواهید</a:t>
                </a:r>
                <a:r>
                  <a:rPr lang="fa-IR" sz="2000" dirty="0">
                    <a:cs typeface="Al Bayan Plain" pitchFamily="2" charset="-78"/>
                  </a:rPr>
                  <a:t> «میانگین </a:t>
                </a:r>
                <a:r>
                  <a:rPr lang="fa-IR" sz="2000" dirty="0" err="1">
                    <a:cs typeface="Al Bayan Plain" pitchFamily="2" charset="-78"/>
                  </a:rPr>
                  <a:t>بزرگیِ</a:t>
                </a:r>
                <a:r>
                  <a:rPr lang="fa-IR" sz="2000" dirty="0">
                    <a:cs typeface="Al Bayan Plain" pitchFamily="2" charset="-78"/>
                  </a:rPr>
                  <a:t> خطا» را به </a:t>
                </a:r>
                <a:r>
                  <a:rPr lang="fa-IR" sz="2000" b="1" dirty="0">
                    <a:cs typeface="AL BAYAN PLAIN" pitchFamily="2" charset="-78"/>
                  </a:rPr>
                  <a:t>همان واحد</a:t>
                </a:r>
                <a:r>
                  <a:rPr lang="fa-IR" sz="2000" dirty="0">
                    <a:cs typeface="Al Bayan Plain" pitchFamily="2" charset="-78"/>
                  </a:rPr>
                  <a:t> هدف گزارش کنید → </a:t>
                </a:r>
                <a:r>
                  <a:rPr lang="en-GB" sz="2000" dirty="0">
                    <a:cs typeface="Al Bayan Plain" pitchFamily="2" charset="-78"/>
                  </a:rPr>
                  <a:t>RMSE</a:t>
                </a:r>
              </a:p>
              <a:p>
                <a:pPr algn="r" rtl="1"/>
                <a:r>
                  <a:rPr lang="fa-IR" sz="2000" dirty="0">
                    <a:cs typeface="Al Bayan Plain" pitchFamily="2" charset="-78"/>
                  </a:rPr>
                  <a:t>اگر به خطاهای بزرگ حساسیت بیشتری </a:t>
                </a:r>
                <a:r>
                  <a:rPr lang="fa-IR" sz="2000" dirty="0" err="1">
                    <a:cs typeface="Al Bayan Plain" pitchFamily="2" charset="-78"/>
                  </a:rPr>
                  <a:t>می‌خواهید</a:t>
                </a:r>
                <a:r>
                  <a:rPr lang="fa-IR" sz="2000" dirty="0">
                    <a:cs typeface="Al Bayan Plain" pitchFamily="2" charset="-78"/>
                  </a:rPr>
                  <a:t> و با </a:t>
                </a:r>
                <a:r>
                  <a:rPr lang="fa-IR" sz="2000" dirty="0" err="1">
                    <a:cs typeface="Al Bayan Plain" pitchFamily="2" charset="-78"/>
                  </a:rPr>
                  <a:t>واحدِ</a:t>
                </a:r>
                <a:r>
                  <a:rPr lang="fa-IR" sz="2000" dirty="0">
                    <a:cs typeface="Al Bayan Plain" pitchFamily="2" charset="-78"/>
                  </a:rPr>
                  <a:t> مربع مشکلی ندارید → </a:t>
                </a:r>
                <a:r>
                  <a:rPr lang="en-GB" sz="2000" dirty="0">
                    <a:cs typeface="Al Bayan Plain" pitchFamily="2" charset="-78"/>
                  </a:rPr>
                  <a:t>MSE</a:t>
                </a:r>
                <a:endParaRPr lang="fa-IR" sz="2000" dirty="0">
                  <a:cs typeface="Al Bayan Plain" pitchFamily="2" charset="-78"/>
                </a:endParaRPr>
              </a:p>
              <a:p>
                <a:pPr algn="r" rtl="1"/>
                <a:r>
                  <a:rPr lang="fa-IR" sz="2000" dirty="0">
                    <a:cs typeface="Al Bayan Plain" pitchFamily="2" charset="-78"/>
                  </a:rPr>
                  <a:t>اگر </a:t>
                </a:r>
                <a:r>
                  <a:rPr lang="fa-IR" sz="2000" dirty="0" err="1">
                    <a:cs typeface="Al Bayan Plain" pitchFamily="2" charset="-78"/>
                  </a:rPr>
                  <a:t>می‌خواهید</a:t>
                </a:r>
                <a:r>
                  <a:rPr lang="fa-IR" sz="2000" dirty="0">
                    <a:cs typeface="Al Bayan Plain" pitchFamily="2" charset="-78"/>
                  </a:rPr>
                  <a:t> بدانید مدل چه سهمی از </a:t>
                </a:r>
                <a:r>
                  <a:rPr lang="fa-IR" sz="2000" dirty="0" err="1">
                    <a:cs typeface="Al Bayan Plain" pitchFamily="2" charset="-78"/>
                  </a:rPr>
                  <a:t>نوسانِ</a:t>
                </a:r>
                <a:r>
                  <a:rPr lang="fa-IR" sz="2000" dirty="0">
                    <a:cs typeface="Al Bayan Plain" pitchFamily="2" charset="-78"/>
                  </a:rPr>
                  <a:t> داده را توضیح </a:t>
                </a:r>
                <a:r>
                  <a:rPr lang="fa-IR" sz="2000" dirty="0" err="1">
                    <a:cs typeface="Al Bayan Plain" pitchFamily="2" charset="-78"/>
                  </a:rPr>
                  <a:t>می‌دهد</a:t>
                </a:r>
                <a:r>
                  <a:rPr lang="fa-IR" sz="2000" dirty="0">
                    <a:cs typeface="Al Bayan Plain" pitchFamily="2" charset="-78"/>
                  </a:rPr>
                  <a:t> (معیاری </a:t>
                </a:r>
                <a:r>
                  <a:rPr lang="fa-IR" sz="2000" dirty="0" err="1">
                    <a:cs typeface="Al Bayan Plain" pitchFamily="2" charset="-78"/>
                  </a:rPr>
                  <a:t>نُرمال‌شده</a:t>
                </a:r>
                <a:r>
                  <a:rPr lang="fa-IR" sz="2000" dirty="0">
                    <a:cs typeface="Al Bayan Plain" pitchFamily="2" charset="-78"/>
                  </a:rPr>
                  <a:t>)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1" i="1" dirty="0">
                            <a:latin typeface="Cambria Math" panose="02040503050406030204" pitchFamily="18" charset="0"/>
                            <a:cs typeface="AL BAYAN PLAIN" pitchFamily="2" charset="-78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cs typeface="AL BAYAN PLAIN" pitchFamily="2" charset="-78"/>
                          </a:rPr>
                          <m:t> 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  <a:cs typeface="AL BAYAN PLAIN" pitchFamily="2" charset="-78"/>
                          </a:rPr>
                          <m:t>𝑹</m:t>
                        </m:r>
                      </m:e>
                      <m:sup>
                        <m:r>
                          <a:rPr lang="en-US" sz="2000" b="1" i="1" dirty="0">
                            <a:latin typeface="Cambria Math" panose="02040503050406030204" pitchFamily="18" charset="0"/>
                            <a:cs typeface="AL BAYAN PLAIN" pitchFamily="2" charset="-78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2000" dirty="0">
                    <a:cs typeface="Al Bayan Plain" pitchFamily="2" charset="-78"/>
                  </a:rPr>
                  <a:t> ؛ </a:t>
                </a:r>
                <a:r>
                  <a:rPr lang="fa-IR" sz="2000" dirty="0">
                    <a:cs typeface="Al Bayan Plain" pitchFamily="2" charset="-78"/>
                  </a:rPr>
                  <a:t>اما ممکن است منفی شود و همیشه </a:t>
                </a:r>
                <a:r>
                  <a:rPr lang="fa-IR" sz="2000" dirty="0" err="1">
                    <a:cs typeface="Al Bayan Plain" pitchFamily="2" charset="-78"/>
                  </a:rPr>
                  <a:t>مقایسه‌پذیر</a:t>
                </a:r>
                <a:r>
                  <a:rPr lang="fa-IR" sz="2000" dirty="0">
                    <a:cs typeface="Al Bayan Plain" pitchFamily="2" charset="-78"/>
                  </a:rPr>
                  <a:t> نباشد. </a:t>
                </a:r>
              </a:p>
              <a:p>
                <a:pPr algn="r" rtl="1"/>
                <a:endParaRPr lang="fa-IR" sz="2000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4834AB-689D-2E79-63FA-F109EC8F2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340" y="1343099"/>
                <a:ext cx="5406360" cy="3484865"/>
              </a:xfrm>
              <a:prstGeom prst="rect">
                <a:avLst/>
              </a:prstGeom>
              <a:blipFill>
                <a:blip r:embed="rId5"/>
                <a:stretch>
                  <a:fillRect r="-937" b="-1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584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5577-F9F5-8BD8-9310-63B38D256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45E4-5638-138D-1188-7A1F364E3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1424763"/>
            <a:ext cx="8361229" cy="797441"/>
          </a:xfrm>
        </p:spPr>
        <p:txBody>
          <a:bodyPr/>
          <a:lstStyle/>
          <a:p>
            <a:pPr rtl="1"/>
            <a:r>
              <a:rPr lang="fa-IR" sz="4800" dirty="0">
                <a:cs typeface="Al Bayan Plain" pitchFamily="2" charset="-78"/>
              </a:rPr>
              <a:t>چه زمانی مسئله با </a:t>
            </a:r>
            <a:r>
              <a:rPr lang="fa-IR" sz="4800" dirty="0" err="1">
                <a:cs typeface="Al Bayan Plain" pitchFamily="2" charset="-78"/>
              </a:rPr>
              <a:t>رگرسیون</a:t>
            </a:r>
            <a:r>
              <a:rPr lang="fa-IR" sz="4800" dirty="0">
                <a:cs typeface="Al Bayan Plain" pitchFamily="2" charset="-78"/>
              </a:rPr>
              <a:t> قابل حل است؟</a:t>
            </a:r>
            <a:endParaRPr lang="en-US" sz="4800" dirty="0">
              <a:cs typeface="Al Bayan Plain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A3-B53D-75F7-054F-EAE68DE45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233" y="2381693"/>
            <a:ext cx="9271590" cy="1512507"/>
          </a:xfrm>
        </p:spPr>
        <p:txBody>
          <a:bodyPr>
            <a:normAutofit fontScale="92500" lnSpcReduction="10000"/>
          </a:bodyPr>
          <a:lstStyle/>
          <a:p>
            <a:pPr algn="r" rtl="1"/>
            <a:r>
              <a:rPr lang="fa-IR" dirty="0">
                <a:cs typeface="Al Bayan Plain" pitchFamily="2" charset="-78"/>
              </a:rPr>
              <a:t>این خصوصیت </a:t>
            </a:r>
            <a:r>
              <a:rPr lang="fa-IR" dirty="0" err="1">
                <a:cs typeface="Al Bayan Plain" pitchFamily="2" charset="-78"/>
              </a:rPr>
              <a:t>الگوریتم</a:t>
            </a:r>
            <a:r>
              <a:rPr lang="fa-IR" dirty="0">
                <a:cs typeface="Al Bayan Plain" pitchFamily="2" charset="-78"/>
              </a:rPr>
              <a:t> </a:t>
            </a:r>
            <a:r>
              <a:rPr lang="fa-IR" dirty="0" err="1">
                <a:cs typeface="Al Bayan Plain" pitchFamily="2" charset="-78"/>
              </a:rPr>
              <a:t>رگرسیون</a:t>
            </a:r>
            <a:r>
              <a:rPr lang="fa-IR" dirty="0">
                <a:cs typeface="Al Bayan Plain" pitchFamily="2" charset="-78"/>
              </a:rPr>
              <a:t> خطی، بیان </a:t>
            </a:r>
            <a:r>
              <a:rPr lang="fa-IR" dirty="0" err="1">
                <a:cs typeface="Al Bayan Plain" pitchFamily="2" charset="-78"/>
              </a:rPr>
              <a:t>می‌کند</a:t>
            </a:r>
            <a:r>
              <a:rPr lang="fa-IR" dirty="0">
                <a:cs typeface="Al Bayan Plain" pitchFamily="2" charset="-78"/>
              </a:rPr>
              <a:t> که متغیر وابسته </a:t>
            </a:r>
            <a:r>
              <a:rPr lang="en-GB" dirty="0">
                <a:cs typeface="Al Bayan Plain" pitchFamily="2" charset="-78"/>
              </a:rPr>
              <a:t>Y </a:t>
            </a:r>
            <a:r>
              <a:rPr lang="fa-IR" dirty="0">
                <a:cs typeface="Al Bayan Plain" pitchFamily="2" charset="-78"/>
              </a:rPr>
              <a:t>باید به صورت خطی با متغیرهای مستقل ارتباط داشته باشند. این فرض با رسم نمودار پراکندگی بین </a:t>
            </a:r>
            <a:r>
              <a:rPr lang="fa-IR" dirty="0" err="1">
                <a:cs typeface="Al Bayan Plain" pitchFamily="2" charset="-78"/>
              </a:rPr>
              <a:t>متغیرها</a:t>
            </a:r>
            <a:r>
              <a:rPr lang="fa-IR" dirty="0">
                <a:cs typeface="Al Bayan Plain" pitchFamily="2" charset="-78"/>
              </a:rPr>
              <a:t> بررسی و نمایش داده </a:t>
            </a:r>
            <a:r>
              <a:rPr lang="fa-IR" dirty="0" err="1">
                <a:cs typeface="Al Bayan Plain" pitchFamily="2" charset="-78"/>
              </a:rPr>
              <a:t>می‌شود</a:t>
            </a:r>
            <a:r>
              <a:rPr lang="fa-IR" dirty="0">
                <a:cs typeface="Al Bayan Plain" pitchFamily="2" charset="-78"/>
              </a:rPr>
              <a:t>.</a:t>
            </a:r>
          </a:p>
          <a:p>
            <a:pPr algn="r" rtl="1"/>
            <a:br>
              <a:rPr lang="fa-IR" dirty="0">
                <a:cs typeface="Al Bayan Plain" pitchFamily="2" charset="-78"/>
              </a:rPr>
            </a:br>
            <a:endParaRPr lang="fa-IR" b="1" dirty="0">
              <a:cs typeface="AL BAYAN PLAIN" pitchFamily="2" charset="-78"/>
            </a:endParaRPr>
          </a:p>
        </p:txBody>
      </p:sp>
      <p:pic>
        <p:nvPicPr>
          <p:cNvPr id="10242" name="Picture 2" descr="خطی و غیر خطی بودن نمودار پراکندگی در رگرسیون خطی در یادگیری ماشین">
            <a:extLst>
              <a:ext uri="{FF2B5EF4-FFF2-40B4-BE49-F238E27FC236}">
                <a16:creationId xmlns:a16="http://schemas.microsoft.com/office/drawing/2014/main" id="{90A46D19-7F1F-A838-3474-245D4F4D6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9" y="3137946"/>
            <a:ext cx="7620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897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3B4C-5C21-9058-5DA3-14C6F31E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DD8F6-9558-61DF-9124-B4604CD6E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1424763"/>
            <a:ext cx="8361229" cy="797441"/>
          </a:xfrm>
        </p:spPr>
        <p:txBody>
          <a:bodyPr/>
          <a:lstStyle/>
          <a:p>
            <a:pPr rtl="1"/>
            <a:r>
              <a:rPr lang="fa-IR" sz="4800" dirty="0">
                <a:cs typeface="Al Bayan Plain" pitchFamily="2" charset="-78"/>
              </a:rPr>
              <a:t>چه زمانی مسئله با </a:t>
            </a:r>
            <a:r>
              <a:rPr lang="fa-IR" sz="4800" dirty="0" err="1">
                <a:cs typeface="Al Bayan Plain" pitchFamily="2" charset="-78"/>
              </a:rPr>
              <a:t>رگرسیون</a:t>
            </a:r>
            <a:r>
              <a:rPr lang="fa-IR" sz="4800" dirty="0">
                <a:cs typeface="Al Bayan Plain" pitchFamily="2" charset="-78"/>
              </a:rPr>
              <a:t> قابل حل است؟</a:t>
            </a:r>
            <a:endParaRPr lang="en-US" sz="4800" dirty="0">
              <a:cs typeface="Al Bayan Plain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09C8AB-3F7E-69BE-AD2E-9418B4BE4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233" y="2381693"/>
            <a:ext cx="9271590" cy="1512507"/>
          </a:xfrm>
        </p:spPr>
        <p:txBody>
          <a:bodyPr>
            <a:normAutofit fontScale="85000" lnSpcReduction="20000"/>
          </a:bodyPr>
          <a:lstStyle/>
          <a:p>
            <a:pPr algn="r" rtl="1"/>
            <a:r>
              <a:rPr lang="fa-IR" dirty="0">
                <a:cs typeface="Al Bayan Plain" pitchFamily="2" charset="-78"/>
              </a:rPr>
              <a:t>متغیرهای </a:t>
            </a:r>
            <a:r>
              <a:rPr lang="en-GB" dirty="0">
                <a:cs typeface="Al Bayan Plain" pitchFamily="2" charset="-78"/>
              </a:rPr>
              <a:t>X </a:t>
            </a:r>
            <a:r>
              <a:rPr lang="fa-IR" dirty="0">
                <a:cs typeface="Al Bayan Plain" pitchFamily="2" charset="-78"/>
              </a:rPr>
              <a:t>و </a:t>
            </a:r>
            <a:r>
              <a:rPr lang="en-GB" dirty="0">
                <a:cs typeface="Al Bayan Plain" pitchFamily="2" charset="-78"/>
              </a:rPr>
              <a:t>Y </a:t>
            </a:r>
            <a:r>
              <a:rPr lang="fa-IR" dirty="0">
                <a:cs typeface="Al Bayan Plain" pitchFamily="2" charset="-78"/>
              </a:rPr>
              <a:t>در </a:t>
            </a:r>
            <a:r>
              <a:rPr lang="fa-IR" dirty="0" err="1">
                <a:cs typeface="Al Bayan Plain" pitchFamily="2" charset="-78"/>
              </a:rPr>
              <a:t>الگوریتم</a:t>
            </a:r>
            <a:r>
              <a:rPr lang="fa-IR" dirty="0">
                <a:cs typeface="Al Bayan Plain" pitchFamily="2" charset="-78"/>
              </a:rPr>
              <a:t> </a:t>
            </a:r>
            <a:r>
              <a:rPr lang="fa-IR" dirty="0" err="1">
                <a:cs typeface="Al Bayan Plain" pitchFamily="2" charset="-78"/>
              </a:rPr>
              <a:t>رگرسیون</a:t>
            </a:r>
            <a:r>
              <a:rPr lang="fa-IR" dirty="0">
                <a:cs typeface="Al Bayan Plain" pitchFamily="2" charset="-78"/>
              </a:rPr>
              <a:t> خطی باید </a:t>
            </a:r>
            <a:r>
              <a:rPr lang="fa-IR" dirty="0">
                <a:cs typeface="Al Bayan Plain" pitchFamily="2" charset="-78"/>
              </a:rPr>
              <a:t>توزیع نرمال داشته </a:t>
            </a:r>
            <a:r>
              <a:rPr lang="fa-IR" dirty="0">
                <a:cs typeface="Al Bayan Plain" pitchFamily="2" charset="-78"/>
              </a:rPr>
              <a:t>باشند. برای بررسی نرمال بودن </a:t>
            </a:r>
            <a:r>
              <a:rPr lang="fa-IR" dirty="0" err="1">
                <a:cs typeface="Al Bayan Plain" pitchFamily="2" charset="-78"/>
              </a:rPr>
              <a:t>داده‌ها</a:t>
            </a:r>
            <a:r>
              <a:rPr lang="fa-IR" dirty="0">
                <a:cs typeface="Al Bayan Plain" pitchFamily="2" charset="-78"/>
              </a:rPr>
              <a:t> و متغیرهای </a:t>
            </a:r>
            <a:r>
              <a:rPr lang="fa-IR" dirty="0" err="1">
                <a:cs typeface="Al Bayan Plain" pitchFamily="2" charset="-78"/>
              </a:rPr>
              <a:t>الگوریتم</a:t>
            </a:r>
            <a:r>
              <a:rPr lang="fa-IR" dirty="0">
                <a:cs typeface="Al Bayan Plain" pitchFamily="2" charset="-78"/>
              </a:rPr>
              <a:t> </a:t>
            </a:r>
            <a:r>
              <a:rPr lang="fa-IR" dirty="0" err="1">
                <a:cs typeface="Al Bayan Plain" pitchFamily="2" charset="-78"/>
              </a:rPr>
              <a:t>رگرسیون</a:t>
            </a:r>
            <a:r>
              <a:rPr lang="fa-IR" dirty="0">
                <a:cs typeface="Al Bayan Plain" pitchFamily="2" charset="-78"/>
              </a:rPr>
              <a:t> خطی </a:t>
            </a:r>
            <a:r>
              <a:rPr lang="fa-IR" dirty="0" err="1">
                <a:cs typeface="Al Bayan Plain" pitchFamily="2" charset="-78"/>
              </a:rPr>
              <a:t>می‌توان</a:t>
            </a:r>
            <a:r>
              <a:rPr lang="fa-IR" dirty="0">
                <a:cs typeface="Al Bayan Plain" pitchFamily="2" charset="-78"/>
              </a:rPr>
              <a:t> از </a:t>
            </a:r>
            <a:r>
              <a:rPr lang="fa-IR" dirty="0" err="1">
                <a:cs typeface="Al Bayan Plain" pitchFamily="2" charset="-78"/>
              </a:rPr>
              <a:t>روش‌های</a:t>
            </a:r>
            <a:r>
              <a:rPr lang="fa-IR" dirty="0">
                <a:cs typeface="Al Bayan Plain" pitchFamily="2" charset="-78"/>
              </a:rPr>
              <a:t> ترسیم </a:t>
            </a:r>
            <a:r>
              <a:rPr lang="fa-IR" dirty="0" err="1">
                <a:cs typeface="Al Bayan Plain" pitchFamily="2" charset="-78"/>
              </a:rPr>
              <a:t>هیستوگرام</a:t>
            </a:r>
            <a:r>
              <a:rPr lang="fa-IR" dirty="0">
                <a:cs typeface="Al Bayan Plain" pitchFamily="2" charset="-78"/>
              </a:rPr>
              <a:t>، </a:t>
            </a:r>
            <a:r>
              <a:rPr lang="en-GB" dirty="0">
                <a:cs typeface="Al Bayan Plain" pitchFamily="2" charset="-78"/>
              </a:rPr>
              <a:t>KDE </a:t>
            </a:r>
            <a:r>
              <a:rPr lang="fa-IR" dirty="0">
                <a:cs typeface="Al Bayan Plain" pitchFamily="2" charset="-78"/>
              </a:rPr>
              <a:t>و </a:t>
            </a:r>
            <a:r>
              <a:rPr lang="en-GB" dirty="0">
                <a:cs typeface="Al Bayan Plain" pitchFamily="2" charset="-78"/>
              </a:rPr>
              <a:t>Q-Q </a:t>
            </a:r>
            <a:r>
              <a:rPr lang="fa-IR" dirty="0">
                <a:cs typeface="Al Bayan Plain" pitchFamily="2" charset="-78"/>
              </a:rPr>
              <a:t>استفاده کرد. در ادامه نمودار </a:t>
            </a:r>
            <a:r>
              <a:rPr lang="fa-IR" dirty="0" err="1">
                <a:cs typeface="Al Bayan Plain" pitchFamily="2" charset="-78"/>
              </a:rPr>
              <a:t>هیستوگرام</a:t>
            </a:r>
            <a:r>
              <a:rPr lang="fa-IR" dirty="0">
                <a:cs typeface="Al Bayan Plain" pitchFamily="2" charset="-78"/>
              </a:rPr>
              <a:t> </a:t>
            </a:r>
            <a:r>
              <a:rPr lang="fa-IR" dirty="0" err="1">
                <a:cs typeface="Al Bayan Plain" pitchFamily="2" charset="-78"/>
              </a:rPr>
              <a:t>باقی‌مانده</a:t>
            </a:r>
            <a:r>
              <a:rPr lang="fa-IR" dirty="0">
                <a:cs typeface="Al Bayan Plain" pitchFamily="2" charset="-78"/>
              </a:rPr>
              <a:t> و «</a:t>
            </a:r>
            <a:r>
              <a:rPr lang="fa-IR" dirty="0" err="1">
                <a:cs typeface="Al Bayan Plain" pitchFamily="2" charset="-78"/>
              </a:rPr>
              <a:t>چندک</a:t>
            </a:r>
            <a:r>
              <a:rPr lang="fa-IR" dirty="0">
                <a:cs typeface="Al Bayan Plain" pitchFamily="2" charset="-78"/>
              </a:rPr>
              <a:t>» (</a:t>
            </a:r>
            <a:r>
              <a:rPr lang="en-GB" dirty="0">
                <a:cs typeface="Al Bayan Plain" pitchFamily="2" charset="-78"/>
              </a:rPr>
              <a:t>Quantile) </a:t>
            </a:r>
            <a:r>
              <a:rPr lang="fa-IR" dirty="0" err="1">
                <a:cs typeface="Al Bayan Plain" pitchFamily="2" charset="-78"/>
              </a:rPr>
              <a:t>باقی‌مانده</a:t>
            </a:r>
            <a:r>
              <a:rPr lang="fa-IR" dirty="0">
                <a:cs typeface="Al Bayan Plain" pitchFamily="2" charset="-78"/>
              </a:rPr>
              <a:t> ارائه شده است.</a:t>
            </a:r>
          </a:p>
          <a:p>
            <a:pPr algn="r" rtl="1"/>
            <a:br>
              <a:rPr lang="fa-IR" dirty="0">
                <a:cs typeface="Al Bayan Plain" pitchFamily="2" charset="-78"/>
              </a:rPr>
            </a:br>
            <a:endParaRPr lang="fa-IR" b="1" dirty="0">
              <a:cs typeface="AL BAYAN PLAIN" pitchFamily="2" charset="-78"/>
            </a:endParaRPr>
          </a:p>
        </p:txBody>
      </p:sp>
      <p:pic>
        <p:nvPicPr>
          <p:cNvPr id="12290" name="Picture 2" descr="هیستوگرام رگرسیون خطی و باقی مانده">
            <a:extLst>
              <a:ext uri="{FF2B5EF4-FFF2-40B4-BE49-F238E27FC236}">
                <a16:creationId xmlns:a16="http://schemas.microsoft.com/office/drawing/2014/main" id="{BCF5000D-3BF5-9885-0422-71B2AB870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3" y="3327992"/>
            <a:ext cx="6622922" cy="252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339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9830E-9463-4340-DCE6-7AB40AE4C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CA2AA-3723-A38B-0468-D1905AF63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1424763"/>
            <a:ext cx="8361229" cy="797441"/>
          </a:xfrm>
        </p:spPr>
        <p:txBody>
          <a:bodyPr/>
          <a:lstStyle/>
          <a:p>
            <a:pPr rtl="1"/>
            <a:r>
              <a:rPr lang="en-US" sz="4800" dirty="0">
                <a:cs typeface="Al Bayan Plain" pitchFamily="2" charset="-78"/>
              </a:rPr>
              <a:t>Normal distribution</a:t>
            </a:r>
          </a:p>
        </p:txBody>
      </p:sp>
      <p:pic>
        <p:nvPicPr>
          <p:cNvPr id="14338" name="Picture 2" descr="Finding and Using Health Statistics">
            <a:extLst>
              <a:ext uri="{FF2B5EF4-FFF2-40B4-BE49-F238E27FC236}">
                <a16:creationId xmlns:a16="http://schemas.microsoft.com/office/drawing/2014/main" id="{6D551923-A02E-E6DA-7EE1-C8F133393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803" y="2222204"/>
            <a:ext cx="5200281" cy="415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1785A3-ADB1-D50F-8E23-E2BEB41C8FA5}"/>
                  </a:ext>
                </a:extLst>
              </p:cNvPr>
              <p:cNvSpPr txBox="1"/>
              <p:nvPr/>
            </p:nvSpPr>
            <p:spPr>
              <a:xfrm>
                <a:off x="6826102" y="3712467"/>
                <a:ext cx="404037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68% data ➡️ -1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</m:oMath>
                </a14:m>
                <a:r>
                  <a:rPr lang="en-US" dirty="0"/>
                  <a:t>+1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r>
                  <a:rPr lang="en-US" dirty="0"/>
                  <a:t>95% data ➡️ -2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</m:oMath>
                </a14:m>
                <a:r>
                  <a:rPr lang="en-US" dirty="0"/>
                  <a:t>+2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r>
                  <a:rPr lang="en-US" dirty="0"/>
                  <a:t>99.7% data ➡️ -3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</m:oMath>
                </a14:m>
                <a:r>
                  <a:rPr lang="en-US" dirty="0"/>
                  <a:t>+3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1785A3-ADB1-D50F-8E23-E2BEB41C8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102" y="3712467"/>
                <a:ext cx="4040371" cy="923330"/>
              </a:xfrm>
              <a:prstGeom prst="rect">
                <a:avLst/>
              </a:prstGeom>
              <a:blipFill>
                <a:blip r:embed="rId3"/>
                <a:stretch>
                  <a:fillRect l="-1254" t="-2740" b="-95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930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E8294-AF2A-D3AE-587E-3EB9951F3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1BCE81-DFD8-9266-33CD-251B887DA8EE}"/>
              </a:ext>
            </a:extLst>
          </p:cNvPr>
          <p:cNvSpPr txBox="1">
            <a:spLocks/>
          </p:cNvSpPr>
          <p:nvPr/>
        </p:nvSpPr>
        <p:spPr>
          <a:xfrm>
            <a:off x="1644254" y="2105247"/>
            <a:ext cx="5559303" cy="7974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72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/>
            <a:r>
              <a:rPr lang="fa-IR" sz="4800" dirty="0">
                <a:cs typeface="Al Bayan Plain" pitchFamily="2" charset="-78"/>
              </a:rPr>
              <a:t>چه زمانی مسئله با </a:t>
            </a:r>
            <a:r>
              <a:rPr lang="fa-IR" sz="4800" dirty="0" err="1">
                <a:cs typeface="Al Bayan Plain" pitchFamily="2" charset="-78"/>
              </a:rPr>
              <a:t>رگرسیون</a:t>
            </a:r>
            <a:r>
              <a:rPr lang="fa-IR" sz="4800" dirty="0">
                <a:cs typeface="Al Bayan Plain" pitchFamily="2" charset="-78"/>
              </a:rPr>
              <a:t> قابل حل است؟</a:t>
            </a:r>
            <a:endParaRPr lang="en-US" sz="4800" dirty="0">
              <a:cs typeface="Al Bayan Plain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F707C-3A91-E88D-842C-2A9B8F5328CF}"/>
              </a:ext>
            </a:extLst>
          </p:cNvPr>
          <p:cNvSpPr txBox="1"/>
          <p:nvPr/>
        </p:nvSpPr>
        <p:spPr>
          <a:xfrm>
            <a:off x="1915385" y="3328827"/>
            <a:ext cx="50170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000" dirty="0">
                <a:cs typeface="Al Bayan Plain" pitchFamily="2" charset="-78"/>
              </a:rPr>
              <a:t>در </a:t>
            </a:r>
            <a:r>
              <a:rPr lang="fa-IR" sz="2000" dirty="0" err="1">
                <a:cs typeface="Al Bayan Plain" pitchFamily="2" charset="-78"/>
              </a:rPr>
              <a:t>الگوریتم</a:t>
            </a:r>
            <a:r>
              <a:rPr lang="fa-IR" sz="2000" dirty="0">
                <a:cs typeface="Al Bayan Plain" pitchFamily="2" charset="-78"/>
              </a:rPr>
              <a:t> </a:t>
            </a:r>
            <a:r>
              <a:rPr lang="fa-IR" sz="2000" dirty="0" err="1">
                <a:cs typeface="Al Bayan Plain" pitchFamily="2" charset="-78"/>
              </a:rPr>
              <a:t>رگرسیون</a:t>
            </a:r>
            <a:r>
              <a:rPr lang="fa-IR" sz="2000" dirty="0">
                <a:cs typeface="Al Bayan Plain" pitchFamily="2" charset="-78"/>
              </a:rPr>
              <a:t> خطی، </a:t>
            </a:r>
            <a:r>
              <a:rPr lang="fa-IR" sz="2000" dirty="0" err="1">
                <a:cs typeface="Al Bayan Plain" pitchFamily="2" charset="-78"/>
              </a:rPr>
              <a:t>واریانس</a:t>
            </a:r>
            <a:r>
              <a:rPr lang="fa-IR" sz="2000" dirty="0">
                <a:cs typeface="Al Bayan Plain" pitchFamily="2" charset="-78"/>
              </a:rPr>
              <a:t> </a:t>
            </a:r>
            <a:r>
              <a:rPr lang="fa-IR" sz="2000" dirty="0" err="1">
                <a:cs typeface="Al Bayan Plain" pitchFamily="2" charset="-78"/>
              </a:rPr>
              <a:t>عبارت‌های</a:t>
            </a:r>
            <a:r>
              <a:rPr lang="fa-IR" sz="2000" dirty="0">
                <a:cs typeface="Al Bayan Plain" pitchFamily="2" charset="-78"/>
              </a:rPr>
              <a:t> دارای خطا باید ثابت باشد، به عبارت دیگر، نیاز است که گسترش </a:t>
            </a:r>
            <a:r>
              <a:rPr lang="fa-IR" sz="2000" dirty="0" err="1">
                <a:cs typeface="Al Bayan Plain" pitchFamily="2" charset="-78"/>
              </a:rPr>
              <a:t>باقی‌مانده</a:t>
            </a:r>
            <a:r>
              <a:rPr lang="fa-IR" sz="2000" dirty="0">
                <a:cs typeface="Al Bayan Plain" pitchFamily="2" charset="-78"/>
              </a:rPr>
              <a:t> برای همه متغیرهای </a:t>
            </a:r>
            <a:r>
              <a:rPr lang="en-GB" sz="2000" dirty="0">
                <a:cs typeface="Al Bayan Plain" pitchFamily="2" charset="-78"/>
              </a:rPr>
              <a:t>X </a:t>
            </a:r>
            <a:r>
              <a:rPr lang="fa-IR" sz="2000" dirty="0">
                <a:cs typeface="Al Bayan Plain" pitchFamily="2" charset="-78"/>
              </a:rPr>
              <a:t>ثابت در نظر گرفته شود. این فرضیه را </a:t>
            </a:r>
            <a:r>
              <a:rPr lang="fa-IR" sz="2000" dirty="0" err="1">
                <a:cs typeface="Al Bayan Plain" pitchFamily="2" charset="-78"/>
              </a:rPr>
              <a:t>می‌توان</a:t>
            </a:r>
            <a:r>
              <a:rPr lang="fa-IR" sz="2000" dirty="0">
                <a:cs typeface="Al Bayan Plain" pitchFamily="2" charset="-78"/>
              </a:rPr>
              <a:t> با رسم نمودار </a:t>
            </a:r>
            <a:r>
              <a:rPr lang="fa-IR" sz="2000" dirty="0" err="1">
                <a:cs typeface="Al Bayan Plain" pitchFamily="2" charset="-78"/>
              </a:rPr>
              <a:t>باقی‌مانده</a:t>
            </a:r>
            <a:r>
              <a:rPr lang="fa-IR" sz="2000" dirty="0">
                <a:cs typeface="Al Bayan Plain" pitchFamily="2" charset="-78"/>
              </a:rPr>
              <a:t> بررسی کرد. اگر این فرضیه انجام نشود و رد شود، نقاط داده به صورت قیف در نمودار جمع </a:t>
            </a:r>
            <a:r>
              <a:rPr lang="fa-IR" sz="2000" dirty="0" err="1">
                <a:cs typeface="Al Bayan Plain" pitchFamily="2" charset="-78"/>
              </a:rPr>
              <a:t>می‌شوند</a:t>
            </a:r>
            <a:r>
              <a:rPr lang="fa-IR" sz="2000" dirty="0">
                <a:cs typeface="Al Bayan Plain" pitchFamily="2" charset="-78"/>
              </a:rPr>
              <a:t> و اگر فرضیه به درستی انجام گیرد، نقاط داده ثابت خواهند بود. </a:t>
            </a:r>
            <a:br>
              <a:rPr lang="fa-IR" sz="2000" dirty="0">
                <a:cs typeface="Al Bayan Plain" pitchFamily="2" charset="-78"/>
              </a:rPr>
            </a:br>
            <a:endParaRPr lang="en-US" sz="2000" dirty="0">
              <a:cs typeface="Al Bayan Plain" pitchFamily="2" charset="-78"/>
            </a:endParaRPr>
          </a:p>
        </p:txBody>
      </p:sp>
      <p:pic>
        <p:nvPicPr>
          <p:cNvPr id="16386" name="Picture 2" descr="نمودار طیف باقی مانده در رگرسیون خطی">
            <a:extLst>
              <a:ext uri="{FF2B5EF4-FFF2-40B4-BE49-F238E27FC236}">
                <a16:creationId xmlns:a16="http://schemas.microsoft.com/office/drawing/2014/main" id="{2C42E030-145E-A1AF-321E-86AABDE43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256" y="495596"/>
            <a:ext cx="36576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6963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0C373-88F5-9B7A-DCDD-8B0AC8EDA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BD28-7D2C-1EBE-8615-269388F52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9516" y="723015"/>
            <a:ext cx="3514307" cy="1839432"/>
          </a:xfrm>
        </p:spPr>
        <p:txBody>
          <a:bodyPr/>
          <a:lstStyle/>
          <a:p>
            <a:pPr rtl="1"/>
            <a:r>
              <a:rPr lang="fa-IR" sz="4800" dirty="0">
                <a:cs typeface="Al Bayan Plain" pitchFamily="2" charset="-78"/>
              </a:rPr>
              <a:t>چه زمانی مسئله با </a:t>
            </a:r>
            <a:r>
              <a:rPr lang="fa-IR" sz="4800" dirty="0" err="1">
                <a:cs typeface="Al Bayan Plain" pitchFamily="2" charset="-78"/>
              </a:rPr>
              <a:t>رگرسیون</a:t>
            </a:r>
            <a:r>
              <a:rPr lang="fa-IR" sz="4800" dirty="0">
                <a:cs typeface="Al Bayan Plain" pitchFamily="2" charset="-78"/>
              </a:rPr>
              <a:t> قابل حل است؟</a:t>
            </a:r>
            <a:endParaRPr lang="en-US" sz="4800" dirty="0">
              <a:cs typeface="Al Bayan Plain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3A3F9-371B-A095-4D8F-8BFF7D4B2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40033" y="2381693"/>
            <a:ext cx="4013790" cy="1512507"/>
          </a:xfrm>
        </p:spPr>
        <p:txBody>
          <a:bodyPr>
            <a:noAutofit/>
          </a:bodyPr>
          <a:lstStyle/>
          <a:p>
            <a:pPr algn="r" rtl="1"/>
            <a:r>
              <a:rPr lang="fa-IR" sz="2000" dirty="0">
                <a:cs typeface="Al Bayan Plain" pitchFamily="2" charset="-78"/>
              </a:rPr>
              <a:t>فرضیه استقلال و غیر هم خطی </a:t>
            </a:r>
            <a:r>
              <a:rPr lang="fa-IR" sz="2000" dirty="0" err="1">
                <a:cs typeface="Al Bayan Plain" pitchFamily="2" charset="-78"/>
              </a:rPr>
              <a:t>چندگانه</a:t>
            </a:r>
            <a:r>
              <a:rPr lang="fa-IR" sz="2000" dirty="0">
                <a:cs typeface="Al Bayan Plain" pitchFamily="2" charset="-78"/>
              </a:rPr>
              <a:t> در </a:t>
            </a:r>
            <a:r>
              <a:rPr lang="fa-IR" sz="2000" dirty="0" err="1">
                <a:cs typeface="Al Bayan Plain" pitchFamily="2" charset="-78"/>
              </a:rPr>
              <a:t>الگوریتم</a:t>
            </a:r>
            <a:r>
              <a:rPr lang="fa-IR" sz="2000" dirty="0">
                <a:cs typeface="Al Bayan Plain" pitchFamily="2" charset="-78"/>
              </a:rPr>
              <a:t> </a:t>
            </a:r>
            <a:r>
              <a:rPr lang="fa-IR" sz="2000" dirty="0" err="1">
                <a:cs typeface="Al Bayan Plain" pitchFamily="2" charset="-78"/>
              </a:rPr>
              <a:t>رگرسیون</a:t>
            </a:r>
            <a:r>
              <a:rPr lang="fa-IR" sz="2000" dirty="0">
                <a:cs typeface="Al Bayan Plain" pitchFamily="2" charset="-78"/>
              </a:rPr>
              <a:t> خطی بیان </a:t>
            </a:r>
            <a:r>
              <a:rPr lang="fa-IR" sz="2000" dirty="0" err="1">
                <a:cs typeface="Al Bayan Plain" pitchFamily="2" charset="-78"/>
              </a:rPr>
              <a:t>می‌کند</a:t>
            </a:r>
            <a:r>
              <a:rPr lang="fa-IR" sz="2000" dirty="0">
                <a:cs typeface="Al Bayan Plain" pitchFamily="2" charset="-78"/>
              </a:rPr>
              <a:t> که </a:t>
            </a:r>
            <a:r>
              <a:rPr lang="fa-IR" sz="2000" dirty="0" err="1">
                <a:cs typeface="Al Bayan Plain" pitchFamily="2" charset="-78"/>
              </a:rPr>
              <a:t>متغیرها</a:t>
            </a:r>
            <a:r>
              <a:rPr lang="fa-IR" sz="2000" dirty="0">
                <a:cs typeface="Al Bayan Plain" pitchFamily="2" charset="-78"/>
              </a:rPr>
              <a:t> باید نسبت به یکدیگر مستقل باشند؛ به عبارت دیگر نباید بین متغیرهای مستقل، همبستگی یا </a:t>
            </a:r>
            <a:r>
              <a:rPr lang="fa-IR" sz="2000" dirty="0" err="1">
                <a:cs typeface="Al Bayan Plain" pitchFamily="2" charset="-78"/>
              </a:rPr>
              <a:t>کورلیشن</a:t>
            </a:r>
            <a:r>
              <a:rPr lang="en-GB" sz="2000" dirty="0">
                <a:cs typeface="Al Bayan Plain" pitchFamily="2" charset="-78"/>
              </a:rPr>
              <a:t> </a:t>
            </a:r>
            <a:r>
              <a:rPr lang="fa-IR" sz="2000" dirty="0">
                <a:cs typeface="Al Bayan Plain" pitchFamily="2" charset="-78"/>
              </a:rPr>
              <a:t>وجود داشته باشد. برای بررسی این موضوع </a:t>
            </a:r>
            <a:r>
              <a:rPr lang="fa-IR" sz="2000" dirty="0" err="1">
                <a:cs typeface="Al Bayan Plain" pitchFamily="2" charset="-78"/>
              </a:rPr>
              <a:t>می‌توان</a:t>
            </a:r>
            <a:r>
              <a:rPr lang="fa-IR" sz="2000" dirty="0">
                <a:cs typeface="Al Bayan Plain" pitchFamily="2" charset="-78"/>
              </a:rPr>
              <a:t> از  </a:t>
            </a:r>
            <a:r>
              <a:rPr lang="fa-IR" sz="2000" dirty="0" err="1">
                <a:cs typeface="Al Bayan Plain" pitchFamily="2" charset="-78"/>
              </a:rPr>
              <a:t>ماتریس</a:t>
            </a:r>
            <a:r>
              <a:rPr lang="fa-IR" sz="2000" dirty="0">
                <a:cs typeface="Al Bayan Plain" pitchFamily="2" charset="-78"/>
              </a:rPr>
              <a:t> </a:t>
            </a:r>
            <a:r>
              <a:rPr lang="fa-IR" sz="2000" dirty="0">
                <a:cs typeface="Al Bayan Plain" pitchFamily="2" charset="-78"/>
              </a:rPr>
              <a:t>همبستگی یا </a:t>
            </a:r>
            <a:r>
              <a:rPr lang="fa-IR" sz="2000" dirty="0">
                <a:cs typeface="Al Bayan Plain" pitchFamily="2" charset="-78"/>
              </a:rPr>
              <a:t>معیار  </a:t>
            </a:r>
            <a:r>
              <a:rPr lang="en-GB" sz="2000" dirty="0">
                <a:cs typeface="Al Bayan Plain" pitchFamily="2" charset="-78"/>
              </a:rPr>
              <a:t>VIF </a:t>
            </a:r>
            <a:r>
              <a:rPr lang="fa-IR" sz="2000" dirty="0">
                <a:cs typeface="Al Bayan Plain" pitchFamily="2" charset="-78"/>
              </a:rPr>
              <a:t>استفاده کرد. اگر معیار </a:t>
            </a:r>
            <a:r>
              <a:rPr lang="en-GB" sz="2000" dirty="0">
                <a:cs typeface="Al Bayan Plain" pitchFamily="2" charset="-78"/>
              </a:rPr>
              <a:t>VIF </a:t>
            </a:r>
            <a:r>
              <a:rPr lang="fa-IR" sz="2000" dirty="0">
                <a:cs typeface="Al Bayan Plain" pitchFamily="2" charset="-78"/>
              </a:rPr>
              <a:t>بزرگتر از ۵ باشد، </a:t>
            </a:r>
            <a:r>
              <a:rPr lang="fa-IR" sz="2000" dirty="0" err="1">
                <a:cs typeface="Al Bayan Plain" pitchFamily="2" charset="-78"/>
              </a:rPr>
              <a:t>متغیرها</a:t>
            </a:r>
            <a:r>
              <a:rPr lang="fa-IR" sz="2000" dirty="0">
                <a:cs typeface="Al Bayan Plain" pitchFamily="2" charset="-78"/>
              </a:rPr>
              <a:t> همبستگی بالایی دارند. در تصویر زیر همبستگی بالایی بین متغیرهای سطر </a:t>
            </a:r>
            <a:r>
              <a:rPr lang="en-GB" sz="2000" dirty="0">
                <a:cs typeface="Al Bayan Plain" pitchFamily="2" charset="-78"/>
              </a:rPr>
              <a:t>x5 </a:t>
            </a:r>
            <a:r>
              <a:rPr lang="fa-IR" sz="2000" dirty="0">
                <a:cs typeface="Al Bayan Plain" pitchFamily="2" charset="-78"/>
              </a:rPr>
              <a:t>و </a:t>
            </a:r>
            <a:r>
              <a:rPr lang="en-GB" sz="2000" dirty="0">
                <a:cs typeface="Al Bayan Plain" pitchFamily="2" charset="-78"/>
              </a:rPr>
              <a:t>x6 </a:t>
            </a:r>
            <a:r>
              <a:rPr lang="fa-IR" sz="2000" dirty="0">
                <a:cs typeface="Al Bayan Plain" pitchFamily="2" charset="-78"/>
              </a:rPr>
              <a:t>وجود دارد.</a:t>
            </a:r>
          </a:p>
          <a:p>
            <a:pPr algn="r" rtl="1"/>
            <a:br>
              <a:rPr lang="fa-IR" sz="2000" dirty="0">
                <a:cs typeface="Al Bayan Plain" pitchFamily="2" charset="-78"/>
              </a:rPr>
            </a:br>
            <a:endParaRPr lang="fa-IR" sz="2000" b="1" dirty="0">
              <a:cs typeface="AL BAYAN PLAIN" pitchFamily="2" charset="-78"/>
            </a:endParaRPr>
          </a:p>
        </p:txBody>
      </p:sp>
      <p:pic>
        <p:nvPicPr>
          <p:cNvPr id="18434" name="Picture 2" descr="همبستگی متغیرها در الگوریتم رگرسیون خطی در یادگیری ماشین">
            <a:extLst>
              <a:ext uri="{FF2B5EF4-FFF2-40B4-BE49-F238E27FC236}">
                <a16:creationId xmlns:a16="http://schemas.microsoft.com/office/drawing/2014/main" id="{C3865831-A0C7-95C6-8C52-C25D0C6FB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3" y="1424763"/>
            <a:ext cx="5257800" cy="48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72261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123</TotalTime>
  <Words>1185</Words>
  <Application>Microsoft Macintosh PowerPoint</Application>
  <PresentationFormat>Widescreen</PresentationFormat>
  <Paragraphs>73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Al Bayan Plain</vt:lpstr>
      <vt:lpstr>Al Bayan Plain</vt:lpstr>
      <vt:lpstr>Arial</vt:lpstr>
      <vt:lpstr>Cambria Math</vt:lpstr>
      <vt:lpstr>Franklin Gothic Book</vt:lpstr>
      <vt:lpstr>MJXc-TeX-math-I</vt:lpstr>
      <vt:lpstr>Verdana</vt:lpstr>
      <vt:lpstr>Crop</vt:lpstr>
      <vt:lpstr>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تابع زیان یا تابع هزینه </vt:lpstr>
      <vt:lpstr>PowerPoint Presentation</vt:lpstr>
      <vt:lpstr>PowerPoint Presentation</vt:lpstr>
      <vt:lpstr>PowerPoint Presentation</vt:lpstr>
      <vt:lpstr>PowerPoint Presentation</vt:lpstr>
      <vt:lpstr>چه زمانی مسئله با رگرسیون قابل حل است؟</vt:lpstr>
      <vt:lpstr>چه زمانی مسئله با رگرسیون قابل حل است؟</vt:lpstr>
      <vt:lpstr>Normal distribution</vt:lpstr>
      <vt:lpstr>PowerPoint Presentation</vt:lpstr>
      <vt:lpstr>چه زمانی مسئله با رگرسیون قابل حل است؟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SMB H</dc:creator>
  <cp:lastModifiedBy>SMB H</cp:lastModifiedBy>
  <cp:revision>5</cp:revision>
  <dcterms:created xsi:type="dcterms:W3CDTF">2025-10-15T17:14:44Z</dcterms:created>
  <dcterms:modified xsi:type="dcterms:W3CDTF">2025-10-15T19:18:37Z</dcterms:modified>
</cp:coreProperties>
</file>