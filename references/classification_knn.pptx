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3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37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10/22/25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log.faradars.org/%d8%a7%d9%84%da%af%d9%88%d8%b1%db%8c%d8%aa%d9%85-%d9%87%d8%a7%db%8c-%db%8c%d8%a7%d8%af%da%af%db%8c%d8%b1%db%8c-%d9%86%d8%b8%d8%a7%d8%b1%d8%aa-%d8%b4%d8%af%d9%87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dnuggets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CFFE-830F-A9BB-BCE0-94D7D8652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- KNN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DEE3A-25B1-A9AD-4689-1BBFDEFA3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Machine Learning</a:t>
            </a:r>
          </a:p>
          <a:p>
            <a:r>
              <a:rPr lang="en-US" b="1" dirty="0"/>
              <a:t>By SMBH</a:t>
            </a:r>
            <a:endParaRPr lang="fa-IR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35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EEEF9-8DBB-C1EB-0207-7B3C0B178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84632"/>
            <a:ext cx="10058400" cy="5687568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dirty="0">
                <a:cs typeface="Al Bayan Plain" pitchFamily="2" charset="-78"/>
              </a:rPr>
              <a:t>در جهان </a:t>
            </a:r>
            <a:r>
              <a:rPr lang="fa-IR" sz="2400" dirty="0" err="1">
                <a:cs typeface="Al Bayan Plain" pitchFamily="2" charset="-78"/>
              </a:rPr>
              <a:t>داده‌محوری</a:t>
            </a:r>
            <a:r>
              <a:rPr lang="fa-IR" sz="2400" dirty="0">
                <a:cs typeface="Al Bayan Plain" pitchFamily="2" charset="-78"/>
              </a:rPr>
              <a:t> زندگی </a:t>
            </a:r>
            <a:r>
              <a:rPr lang="fa-IR" sz="2400" dirty="0" err="1">
                <a:cs typeface="Al Bayan Plain" pitchFamily="2" charset="-78"/>
              </a:rPr>
              <a:t>می‌کنیم</a:t>
            </a:r>
            <a:r>
              <a:rPr lang="fa-IR" sz="2400" dirty="0">
                <a:cs typeface="Al Bayan Plain" pitchFamily="2" charset="-78"/>
              </a:rPr>
              <a:t> که هوش مصنوعی و یادگیری ماشین از </a:t>
            </a:r>
            <a:r>
              <a:rPr lang="fa-IR" sz="2400" dirty="0" err="1">
                <a:cs typeface="Al Bayan Plain" pitchFamily="2" charset="-78"/>
              </a:rPr>
              <a:t>داده‌ها</a:t>
            </a:r>
            <a:r>
              <a:rPr lang="fa-IR" sz="2400" dirty="0">
                <a:cs typeface="Al Bayan Plain" pitchFamily="2" charset="-78"/>
              </a:rPr>
              <a:t> برای شناختن جامعه، </a:t>
            </a:r>
            <a:r>
              <a:rPr lang="fa-IR" sz="2400" dirty="0" err="1">
                <a:cs typeface="Al Bayan Plain" pitchFamily="2" charset="-78"/>
              </a:rPr>
              <a:t>پیش‌بینی</a:t>
            </a:r>
            <a:r>
              <a:rPr lang="fa-IR" sz="2400" dirty="0">
                <a:cs typeface="Al Bayan Plain" pitchFamily="2" charset="-78"/>
              </a:rPr>
              <a:t> خروجی </a:t>
            </a:r>
            <a:r>
              <a:rPr lang="fa-IR" sz="2400" dirty="0" err="1">
                <a:cs typeface="Al Bayan Plain" pitchFamily="2" charset="-78"/>
              </a:rPr>
              <a:t>کسب‌وکارها</a:t>
            </a:r>
            <a:r>
              <a:rPr lang="fa-IR" sz="2400" dirty="0">
                <a:cs typeface="Al Bayan Plain" pitchFamily="2" charset="-78"/>
              </a:rPr>
              <a:t>، </a:t>
            </a:r>
            <a:r>
              <a:rPr lang="fa-IR" sz="2400" dirty="0" err="1">
                <a:cs typeface="Al Bayan Plain" pitchFamily="2" charset="-78"/>
              </a:rPr>
              <a:t>تصمیم‌گیری</a:t>
            </a:r>
            <a:r>
              <a:rPr lang="fa-IR" sz="2400" dirty="0">
                <a:cs typeface="Al Bayan Plain" pitchFamily="2" charset="-78"/>
              </a:rPr>
              <a:t> و توسعه استفاده </a:t>
            </a:r>
            <a:r>
              <a:rPr lang="fa-IR" sz="2400" dirty="0" err="1">
                <a:cs typeface="Al Bayan Plain" pitchFamily="2" charset="-78"/>
              </a:rPr>
              <a:t>می‌کنند</a:t>
            </a:r>
            <a:r>
              <a:rPr lang="fa-IR" sz="2400" dirty="0">
                <a:cs typeface="Al Bayan Plain" pitchFamily="2" charset="-78"/>
              </a:rPr>
              <a:t>. از «</a:t>
            </a:r>
            <a:r>
              <a:rPr lang="fa-IR" sz="2400" dirty="0" err="1">
                <a:cs typeface="Al Bayan Plain" pitchFamily="2" charset="-78"/>
              </a:rPr>
              <a:t>طبقه‌بندی</a:t>
            </a:r>
            <a:r>
              <a:rPr lang="fa-IR" sz="2400" dirty="0">
                <a:cs typeface="Al Bayan Plain" pitchFamily="2" charset="-78"/>
              </a:rPr>
              <a:t>» </a:t>
            </a:r>
            <a:r>
              <a:rPr lang="en-GB" sz="2400" dirty="0">
                <a:cs typeface="Al Bayan Plain" pitchFamily="2" charset="-78"/>
              </a:rPr>
              <a:t>Classification </a:t>
            </a:r>
            <a:r>
              <a:rPr lang="fa-IR" sz="2400" dirty="0">
                <a:cs typeface="Al Bayan Plain" pitchFamily="2" charset="-78"/>
              </a:rPr>
              <a:t>به عنوان یکی از </a:t>
            </a:r>
            <a:r>
              <a:rPr lang="fa-IR" sz="2400" dirty="0" err="1">
                <a:cs typeface="Al Bayan Plain" pitchFamily="2" charset="-78"/>
              </a:rPr>
              <a:t>رایج‌ترین</a:t>
            </a:r>
            <a:r>
              <a:rPr lang="fa-IR" sz="2400" dirty="0">
                <a:cs typeface="Al Bayan Plain" pitchFamily="2" charset="-78"/>
              </a:rPr>
              <a:t> </a:t>
            </a:r>
            <a:r>
              <a:rPr lang="fa-IR" sz="2400" dirty="0" err="1">
                <a:cs typeface="Al Bayan Plain" pitchFamily="2" charset="-78"/>
              </a:rPr>
              <a:t>روش‌های</a:t>
            </a:r>
            <a:r>
              <a:rPr lang="fa-IR" sz="2400" dirty="0">
                <a:cs typeface="Al Bayan Plain" pitchFamily="2" charset="-78"/>
              </a:rPr>
              <a:t> یادگیری ماشین «</a:t>
            </a:r>
            <a:r>
              <a:rPr lang="fa-IR" sz="2400" dirty="0">
                <a:solidFill>
                  <a:srgbClr val="FF0000"/>
                </a:solidFill>
                <a:cs typeface="Al Bayan Plain" pitchFamily="2" charset="-7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نظارت شده</a:t>
            </a:r>
            <a:r>
              <a:rPr lang="fa-IR" sz="2400" dirty="0">
                <a:cs typeface="Al Bayan Plain" pitchFamily="2" charset="-78"/>
              </a:rPr>
              <a:t>» </a:t>
            </a:r>
            <a:r>
              <a:rPr lang="en-GB" sz="2400" dirty="0">
                <a:cs typeface="Al Bayan Plain" pitchFamily="2" charset="-78"/>
              </a:rPr>
              <a:t>Supervised </a:t>
            </a:r>
            <a:r>
              <a:rPr lang="fa-IR" sz="2400" dirty="0">
                <a:cs typeface="Al Bayan Plain" pitchFamily="2" charset="-78"/>
              </a:rPr>
              <a:t>یاد </a:t>
            </a:r>
            <a:r>
              <a:rPr lang="fa-IR" sz="2400" dirty="0" err="1">
                <a:cs typeface="Al Bayan Plain" pitchFamily="2" charset="-78"/>
              </a:rPr>
              <a:t>می‌شود</a:t>
            </a:r>
            <a:r>
              <a:rPr lang="fa-IR" sz="2400" dirty="0">
                <a:cs typeface="Al Bayan Plain" pitchFamily="2" charset="-78"/>
              </a:rPr>
              <a:t>. </a:t>
            </a:r>
            <a:r>
              <a:rPr lang="fa-IR" sz="2400" dirty="0" err="1">
                <a:cs typeface="Al Bayan Plain" pitchFamily="2" charset="-78"/>
              </a:rPr>
              <a:t>الگوریتم‌های</a:t>
            </a:r>
            <a:r>
              <a:rPr lang="fa-IR" sz="2400" dirty="0">
                <a:cs typeface="Al Bayan Plain" pitchFamily="2" charset="-78"/>
              </a:rPr>
              <a:t> </a:t>
            </a:r>
            <a:r>
              <a:rPr lang="fa-IR" sz="2400" dirty="0" err="1">
                <a:cs typeface="Al Bayan Plain" pitchFamily="2" charset="-78"/>
              </a:rPr>
              <a:t>طبقه‌بندی</a:t>
            </a:r>
            <a:r>
              <a:rPr lang="fa-IR" sz="2400" dirty="0">
                <a:cs typeface="Al Bayan Plain" pitchFamily="2" charset="-78"/>
              </a:rPr>
              <a:t>، </a:t>
            </a:r>
            <a:r>
              <a:rPr lang="fa-IR" sz="2400" dirty="0" err="1">
                <a:cs typeface="Al Bayan Plain" pitchFamily="2" charset="-78"/>
              </a:rPr>
              <a:t>نمونه‌های</a:t>
            </a:r>
            <a:r>
              <a:rPr lang="fa-IR" sz="2400" dirty="0">
                <a:cs typeface="Al Bayan Plain" pitchFamily="2" charset="-78"/>
              </a:rPr>
              <a:t> داده را </a:t>
            </a:r>
            <a:r>
              <a:rPr lang="fa-IR" sz="2400" dirty="0" err="1">
                <a:solidFill>
                  <a:srgbClr val="FF0000"/>
                </a:solidFill>
                <a:cs typeface="Al Bayan Plain" pitchFamily="2" charset="-78"/>
              </a:rPr>
              <a:t>گروه‌بندی</a:t>
            </a:r>
            <a:r>
              <a:rPr lang="fa-IR" sz="2400" dirty="0">
                <a:cs typeface="Al Bayan Plain" pitchFamily="2" charset="-78"/>
              </a:rPr>
              <a:t> کرده و گستره کاربردهای وسیعی از شناسایی </a:t>
            </a:r>
            <a:r>
              <a:rPr lang="fa-IR" sz="2400" dirty="0" err="1">
                <a:cs typeface="Al Bayan Plain" pitchFamily="2" charset="-78"/>
              </a:rPr>
              <a:t>ایمیل‌های</a:t>
            </a:r>
            <a:r>
              <a:rPr lang="fa-IR" sz="2400" dirty="0">
                <a:cs typeface="Al Bayan Plain" pitchFamily="2" charset="-78"/>
              </a:rPr>
              <a:t> </a:t>
            </a:r>
            <a:r>
              <a:rPr lang="fa-IR" sz="2400" dirty="0" err="1">
                <a:cs typeface="Al Bayan Plain" pitchFamily="2" charset="-78"/>
              </a:rPr>
              <a:t>اسپم</a:t>
            </a:r>
            <a:r>
              <a:rPr lang="fa-IR" sz="2400" dirty="0">
                <a:cs typeface="Al Bayan Plain" pitchFamily="2" charset="-78"/>
              </a:rPr>
              <a:t> گرفته تا تشخیص گفتار دارند</a:t>
            </a:r>
            <a:r>
              <a:rPr lang="en-US" sz="2400" dirty="0">
                <a:cs typeface="Al Bayan Plain" pitchFamily="2" charset="-78"/>
              </a:rPr>
              <a:t>.</a:t>
            </a:r>
          </a:p>
          <a:p>
            <a:pPr algn="r" rtl="1">
              <a:lnSpc>
                <a:spcPct val="150000"/>
              </a:lnSpc>
            </a:pPr>
            <a:endParaRPr lang="en-US" sz="2400" dirty="0">
              <a:cs typeface="Al Bayan Plain" pitchFamily="2" charset="-78"/>
            </a:endParaRPr>
          </a:p>
        </p:txBody>
      </p:sp>
      <p:pic>
        <p:nvPicPr>
          <p:cNvPr id="1026" name="Picture 2" descr="Supervised learning - Wikipedia">
            <a:extLst>
              <a:ext uri="{FF2B5EF4-FFF2-40B4-BE49-F238E27FC236}">
                <a16:creationId xmlns:a16="http://schemas.microsoft.com/office/drawing/2014/main" id="{832FD1DF-D4E5-EFEA-1E4E-6D13633D3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3264195"/>
            <a:ext cx="7002997" cy="310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2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6DE1-5395-C70E-3EFA-D3D4DDBB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68BA-DE41-B90F-6904-7D5EBC7F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</a:t>
            </a:r>
            <a:r>
              <a:rPr lang="en-US" dirty="0" err="1"/>
              <a:t>Neighbours</a:t>
            </a:r>
            <a:r>
              <a:rPr lang="en-US" dirty="0"/>
              <a:t>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1927-0251-E534-22A8-6D0C71C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r" rtl="1">
              <a:lnSpc>
                <a:spcPct val="150000"/>
              </a:lnSpc>
            </a:pPr>
            <a:r>
              <a:rPr lang="fa-IR" dirty="0" err="1"/>
              <a:t>نزدیک‌ترین</a:t>
            </a:r>
            <a:r>
              <a:rPr lang="fa-IR" dirty="0"/>
              <a:t> همسایگی یک روش </a:t>
            </a:r>
            <a:r>
              <a:rPr lang="fa-IR" dirty="0" err="1"/>
              <a:t>ناپارامتری</a:t>
            </a:r>
            <a:r>
              <a:rPr lang="fa-IR" dirty="0"/>
              <a:t> است که در </a:t>
            </a:r>
            <a:r>
              <a:rPr lang="fa-IR" dirty="0" err="1"/>
              <a:t>داده‌کاوی</a:t>
            </a:r>
            <a:r>
              <a:rPr lang="fa-IR" dirty="0"/>
              <a:t>، یادگیری ماشین و تشخیص الگو مورد استفاده قرار </a:t>
            </a:r>
            <a:r>
              <a:rPr lang="fa-IR" dirty="0" err="1"/>
              <a:t>می‌گیرد</a:t>
            </a:r>
            <a:r>
              <a:rPr lang="fa-IR" dirty="0"/>
              <a:t>. بر اساس آمارهای ارائه شده در </a:t>
            </a:r>
            <a:r>
              <a:rPr lang="fa-IR" dirty="0">
                <a:hlinkClick r:id="rId2"/>
              </a:rPr>
              <a:t>وب‌سایت </a:t>
            </a:r>
            <a:r>
              <a:rPr lang="en-GB" dirty="0">
                <a:hlinkClick r:id="rId2"/>
              </a:rPr>
              <a:t>kdnuggets </a:t>
            </a:r>
            <a:r>
              <a:rPr lang="fa-IR" dirty="0"/>
              <a:t> </a:t>
            </a:r>
            <a:r>
              <a:rPr lang="fa-IR" dirty="0" err="1"/>
              <a:t>الگوریتم</a:t>
            </a:r>
            <a:r>
              <a:rPr lang="fa-IR" dirty="0"/>
              <a:t> </a:t>
            </a:r>
            <a:r>
              <a:rPr lang="en-GB" dirty="0"/>
              <a:t>k</a:t>
            </a:r>
            <a:r>
              <a:rPr lang="fa-IR" dirty="0" err="1"/>
              <a:t>نزدیک‌ترین</a:t>
            </a:r>
            <a:r>
              <a:rPr lang="fa-IR" dirty="0"/>
              <a:t> همسایگی یکی از </a:t>
            </a:r>
            <a:r>
              <a:rPr lang="fa-IR" dirty="0">
                <a:solidFill>
                  <a:srgbClr val="FF0000"/>
                </a:solidFill>
              </a:rPr>
              <a:t>ده </a:t>
            </a:r>
            <a:r>
              <a:rPr lang="fa-IR" dirty="0" err="1">
                <a:solidFill>
                  <a:srgbClr val="FF0000"/>
                </a:solidFill>
              </a:rPr>
              <a:t>الگوریتمی</a:t>
            </a:r>
            <a:r>
              <a:rPr lang="fa-IR" dirty="0">
                <a:solidFill>
                  <a:srgbClr val="FF0000"/>
                </a:solidFill>
              </a:rPr>
              <a:t> است که بیشترین استفاده</a:t>
            </a:r>
            <a:r>
              <a:rPr lang="fa-IR" dirty="0"/>
              <a:t> را در </a:t>
            </a:r>
            <a:r>
              <a:rPr lang="fa-IR" dirty="0" err="1"/>
              <a:t>پروژه‌های</a:t>
            </a:r>
            <a:r>
              <a:rPr lang="fa-IR" dirty="0"/>
              <a:t> گوناگون یادگیری ماشین و </a:t>
            </a:r>
            <a:r>
              <a:rPr lang="fa-IR" dirty="0" err="1"/>
              <a:t>داده‌کاوی</a:t>
            </a:r>
            <a:r>
              <a:rPr lang="fa-IR" dirty="0"/>
              <a:t>، هم در صنعت و هم در دانشگاه داشته است.</a:t>
            </a:r>
            <a:endParaRPr lang="fa-IR" sz="2400" dirty="0">
              <a:cs typeface="Al Bayan Plain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dirty="0"/>
              <a:t>یکی از دلایل اصلی </a:t>
            </a:r>
            <a:r>
              <a:rPr lang="fa-IR" dirty="0" err="1"/>
              <a:t>پرکاربرد</a:t>
            </a:r>
            <a:r>
              <a:rPr lang="fa-IR" dirty="0"/>
              <a:t> بودن </a:t>
            </a:r>
            <a:r>
              <a:rPr lang="fa-IR" dirty="0" err="1"/>
              <a:t>الگوریتم‌های</a:t>
            </a:r>
            <a:r>
              <a:rPr lang="fa-IR" dirty="0"/>
              <a:t> </a:t>
            </a:r>
            <a:r>
              <a:rPr lang="fa-IR" dirty="0" err="1"/>
              <a:t>طبقه‌بندی</a:t>
            </a:r>
            <a:r>
              <a:rPr lang="en-GB" dirty="0"/>
              <a:t> </a:t>
            </a:r>
            <a:r>
              <a:rPr lang="fa-IR" dirty="0"/>
              <a:t>آن است که «</a:t>
            </a:r>
            <a:r>
              <a:rPr lang="fa-IR" dirty="0" err="1">
                <a:solidFill>
                  <a:srgbClr val="FF0000"/>
                </a:solidFill>
              </a:rPr>
              <a:t>تصمیم‌گیری</a:t>
            </a:r>
            <a:r>
              <a:rPr lang="fa-IR" dirty="0"/>
              <a:t>» یکی از </a:t>
            </a:r>
            <a:r>
              <a:rPr lang="fa-IR" dirty="0" err="1"/>
              <a:t>چالش‌های</a:t>
            </a:r>
            <a:r>
              <a:rPr lang="fa-IR" dirty="0"/>
              <a:t> اساسی موجود در اغلب </a:t>
            </a:r>
            <a:r>
              <a:rPr lang="fa-IR" dirty="0" err="1"/>
              <a:t>پروژه‌های</a:t>
            </a:r>
            <a:r>
              <a:rPr lang="fa-IR" dirty="0"/>
              <a:t> تحلیلی است. برای مثال، </a:t>
            </a:r>
            <a:r>
              <a:rPr lang="fa-IR" dirty="0" err="1"/>
              <a:t>تصمیم‌گیری</a:t>
            </a:r>
            <a:r>
              <a:rPr lang="fa-IR" dirty="0"/>
              <a:t> درباره اینکه آیا مشتری </a:t>
            </a:r>
            <a:r>
              <a:rPr lang="en-GB" dirty="0"/>
              <a:t>X </a:t>
            </a:r>
            <a:r>
              <a:rPr lang="fa-IR" dirty="0"/>
              <a:t>پتانسیل لازم برای مورد هدف قرار داده شدن در </a:t>
            </a:r>
            <a:r>
              <a:rPr lang="fa-IR" dirty="0" err="1"/>
              <a:t>کارزارهای</a:t>
            </a:r>
            <a:r>
              <a:rPr lang="fa-IR" dirty="0"/>
              <a:t> دیجیتال یک </a:t>
            </a:r>
            <a:r>
              <a:rPr lang="fa-IR" dirty="0" err="1"/>
              <a:t>کسب‌و‌کار</a:t>
            </a:r>
            <a:r>
              <a:rPr lang="fa-IR" dirty="0"/>
              <a:t> را دارد یا خیر و یا اینکه آیا یک مشتری وفادار است یا نه از جمله مسائل </a:t>
            </a:r>
            <a:r>
              <a:rPr lang="fa-IR" dirty="0" err="1"/>
              <a:t>تصمیم‌گیری</a:t>
            </a:r>
            <a:r>
              <a:rPr lang="fa-IR" dirty="0"/>
              <a:t> به حساب </a:t>
            </a:r>
            <a:r>
              <a:rPr lang="fa-IR" dirty="0" err="1"/>
              <a:t>می‌آیند</a:t>
            </a:r>
            <a:r>
              <a:rPr lang="fa-IR" dirty="0"/>
              <a:t> که در فرآیند تحلیل قصد </a:t>
            </a:r>
            <a:r>
              <a:rPr lang="fa-IR" dirty="0" err="1"/>
              <a:t>پاسخ‌دهی</a:t>
            </a:r>
            <a:r>
              <a:rPr lang="fa-IR" dirty="0"/>
              <a:t> به </a:t>
            </a:r>
            <a:r>
              <a:rPr lang="fa-IR" dirty="0" err="1"/>
              <a:t>آن‌ها</a:t>
            </a:r>
            <a:r>
              <a:rPr lang="fa-IR" dirty="0"/>
              <a:t> وجود دارد.</a:t>
            </a:r>
          </a:p>
          <a:p>
            <a:pPr algn="r" rtl="1">
              <a:lnSpc>
                <a:spcPct val="150000"/>
              </a:lnSpc>
            </a:pPr>
            <a:r>
              <a:rPr lang="fa-IR" dirty="0"/>
              <a:t>نتایج این </a:t>
            </a:r>
            <a:r>
              <a:rPr lang="fa-IR" dirty="0" err="1"/>
              <a:t>تحلیل‌ها</a:t>
            </a:r>
            <a:r>
              <a:rPr lang="fa-IR" dirty="0"/>
              <a:t> بسیار </a:t>
            </a:r>
            <a:r>
              <a:rPr lang="fa-IR" dirty="0" err="1"/>
              <a:t>تأمل‌برانگیز</a:t>
            </a:r>
            <a:r>
              <a:rPr lang="fa-IR" dirty="0"/>
              <a:t> هستند و </a:t>
            </a:r>
            <a:r>
              <a:rPr lang="fa-IR" dirty="0" err="1"/>
              <a:t>به‌طور</a:t>
            </a:r>
            <a:r>
              <a:rPr lang="fa-IR" dirty="0"/>
              <a:t> مستقیم به </a:t>
            </a:r>
            <a:r>
              <a:rPr lang="fa-IR" dirty="0" err="1"/>
              <a:t>پیاده‌سازی</a:t>
            </a:r>
            <a:r>
              <a:rPr lang="fa-IR" dirty="0"/>
              <a:t> نقشه راه در یک سازمان یا </a:t>
            </a:r>
            <a:r>
              <a:rPr lang="fa-IR" dirty="0" err="1"/>
              <a:t>کسب‌و‌کار</a:t>
            </a:r>
            <a:r>
              <a:rPr lang="fa-IR" dirty="0"/>
              <a:t> کمک </a:t>
            </a:r>
            <a:r>
              <a:rPr lang="fa-IR" dirty="0" err="1"/>
              <a:t>می‌کنند</a:t>
            </a:r>
            <a:r>
              <a:rPr lang="fa-I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502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643B4-6127-DADB-E9E2-D0D77F54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D8BA-8469-B0E9-BF80-17DF47A2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</a:t>
            </a:r>
            <a:r>
              <a:rPr lang="en-US" dirty="0" err="1"/>
              <a:t>Neighbours</a:t>
            </a:r>
            <a:r>
              <a:rPr lang="en-US" dirty="0"/>
              <a:t>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22AA-8DC6-569C-D915-7143B4246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2640915" cy="40507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Handwritten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digit classification </a:t>
            </a:r>
            <a:endParaRPr lang="fa-IR" dirty="0"/>
          </a:p>
        </p:txBody>
      </p:sp>
      <p:pic>
        <p:nvPicPr>
          <p:cNvPr id="3074" name="Picture 2" descr="Classify Handwritten-Digits With Tensorflow - MarkTechPost">
            <a:extLst>
              <a:ext uri="{FF2B5EF4-FFF2-40B4-BE49-F238E27FC236}">
                <a16:creationId xmlns:a16="http://schemas.microsoft.com/office/drawing/2014/main" id="{2B61CE25-9121-B7E3-442D-33400DBA3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063" y="1866026"/>
            <a:ext cx="7045089" cy="450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92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19E-4E1C-694B-0898-58DB23EC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3E23-B77D-8E11-6862-C5139185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</a:t>
            </a:r>
            <a:r>
              <a:rPr lang="en-US" dirty="0" err="1"/>
              <a:t>Neighbours</a:t>
            </a:r>
            <a:r>
              <a:rPr lang="en-US" dirty="0"/>
              <a:t>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351D-670C-4C71-930D-080C67FB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3374561" cy="405079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fa-IR" dirty="0"/>
              <a:t>تشخیص تومور مغزی در </a:t>
            </a:r>
            <a:r>
              <a:rPr lang="en-GB" dirty="0"/>
              <a:t>MRI</a:t>
            </a:r>
            <a:endParaRPr lang="fa-IR" dirty="0"/>
          </a:p>
        </p:txBody>
      </p:sp>
      <p:pic>
        <p:nvPicPr>
          <p:cNvPr id="5122" name="Picture 2" descr="Four imaging modalities: (a) T1-weighted MRI; (b) T2-weighted MRI; (c ...">
            <a:extLst>
              <a:ext uri="{FF2B5EF4-FFF2-40B4-BE49-F238E27FC236}">
                <a16:creationId xmlns:a16="http://schemas.microsoft.com/office/drawing/2014/main" id="{31BE70E2-D4B6-C8C6-10A6-BB252940D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194" y="1657191"/>
            <a:ext cx="3792472" cy="476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45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7E3D-C455-B2BB-2084-4CDD9348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F746-412E-3ED6-1337-EA799F5A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</a:t>
            </a:r>
            <a:r>
              <a:rPr lang="en-US" dirty="0" err="1"/>
              <a:t>Neighbours</a:t>
            </a:r>
            <a:r>
              <a:rPr lang="en-US" dirty="0"/>
              <a:t>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E1BCE-F9D0-0275-5DE0-A0FA4FB0B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541" y="2072073"/>
            <a:ext cx="4001882" cy="405079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fa-IR" dirty="0"/>
              <a:t>تشخیص </a:t>
            </a:r>
            <a:r>
              <a:rPr lang="fa-IR" dirty="0" err="1"/>
              <a:t>ملانوما</a:t>
            </a:r>
            <a:r>
              <a:rPr lang="fa-IR" dirty="0"/>
              <a:t> و</a:t>
            </a:r>
            <a:r>
              <a:rPr lang="en-GB" dirty="0"/>
              <a:t> </a:t>
            </a:r>
            <a:r>
              <a:rPr lang="fa-IR" dirty="0"/>
              <a:t>ضایعات </a:t>
            </a:r>
            <a:r>
              <a:rPr lang="fa-IR" dirty="0" err="1"/>
              <a:t>خوش‌خیم</a:t>
            </a:r>
            <a:r>
              <a:rPr lang="fa-IR" dirty="0"/>
              <a:t> پوست</a:t>
            </a:r>
          </a:p>
        </p:txBody>
      </p:sp>
      <p:pic>
        <p:nvPicPr>
          <p:cNvPr id="7172" name="Picture 4" descr="Samples of the 2019 ISIC dataset. (a) Melanoma – MEL, (b) Melanocytic ...">
            <a:extLst>
              <a:ext uri="{FF2B5EF4-FFF2-40B4-BE49-F238E27FC236}">
                <a16:creationId xmlns:a16="http://schemas.microsoft.com/office/drawing/2014/main" id="{6D3E6422-23DF-5C28-6B2B-AE67DFEE0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54" y="2833429"/>
            <a:ext cx="7258198" cy="333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28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63E5-8247-49E1-8DC7-39C2C9A2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F90C-04FB-2C23-5949-051284B2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sz="3600" b="1" dirty="0"/>
              <a:t>چه زمانی باید از </a:t>
            </a:r>
            <a:r>
              <a:rPr lang="fa-IR" sz="3600" b="1" dirty="0" err="1"/>
              <a:t>الگوریتم</a:t>
            </a:r>
            <a:r>
              <a:rPr lang="fa-IR" sz="3600" b="1" dirty="0"/>
              <a:t> </a:t>
            </a:r>
            <a:r>
              <a:rPr lang="en-GB" sz="3600" b="1" dirty="0"/>
              <a:t>k</a:t>
            </a:r>
            <a:r>
              <a:rPr lang="fa-IR" sz="3600" b="1" dirty="0"/>
              <a:t> </a:t>
            </a:r>
            <a:r>
              <a:rPr lang="fa-IR" sz="3600" b="1" dirty="0" err="1"/>
              <a:t>نزدیک‌ترین</a:t>
            </a:r>
            <a:r>
              <a:rPr lang="fa-IR" sz="3600" b="1" dirty="0"/>
              <a:t> همسایگی استفاده کرد؟</a:t>
            </a:r>
            <a:br>
              <a:rPr lang="fa-IR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A2AD-ACCF-5011-7C6E-3945CE974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 err="1"/>
              <a:t>الگوریتم</a:t>
            </a:r>
            <a:r>
              <a:rPr lang="fa-IR" dirty="0"/>
              <a:t> </a:t>
            </a:r>
            <a:r>
              <a:rPr lang="en-GB" dirty="0"/>
              <a:t>k-</a:t>
            </a:r>
            <a:r>
              <a:rPr lang="fa-IR" dirty="0" err="1"/>
              <a:t>نزدیک‌ترین</a:t>
            </a:r>
            <a:r>
              <a:rPr lang="fa-IR" dirty="0"/>
              <a:t> همسایگی برای مسائل </a:t>
            </a:r>
            <a:r>
              <a:rPr lang="fa-IR" dirty="0" err="1"/>
              <a:t>طبقه‌بندی</a:t>
            </a:r>
            <a:r>
              <a:rPr lang="fa-IR" dirty="0"/>
              <a:t> و </a:t>
            </a:r>
            <a:r>
              <a:rPr lang="fa-IR" dirty="0" err="1"/>
              <a:t>رگرسیون</a:t>
            </a:r>
            <a:r>
              <a:rPr lang="fa-IR" dirty="0"/>
              <a:t> قابل استفاده است. اگرچه، در اغلب مواقع از آن برای مسائل </a:t>
            </a:r>
            <a:r>
              <a:rPr lang="fa-IR" dirty="0" err="1">
                <a:solidFill>
                  <a:srgbClr val="FF0000"/>
                </a:solidFill>
              </a:rPr>
              <a:t>طبقه‌بندی</a:t>
            </a:r>
            <a:r>
              <a:rPr lang="fa-IR" dirty="0"/>
              <a:t> استفاده </a:t>
            </a:r>
            <a:r>
              <a:rPr lang="fa-IR" dirty="0" err="1"/>
              <a:t>می‌شود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endParaRPr lang="fa-IR" dirty="0"/>
          </a:p>
          <a:p>
            <a:pPr algn="r" rtl="1"/>
            <a:r>
              <a:rPr lang="fa-IR" dirty="0"/>
              <a:t>برای ارزیابی هر روشی به طور کلی به سه جنبه مهم آن توجه </a:t>
            </a:r>
            <a:r>
              <a:rPr lang="fa-IR" dirty="0" err="1"/>
              <a:t>می‌شود</a:t>
            </a:r>
            <a:r>
              <a:rPr lang="fa-IR" dirty="0"/>
              <a:t>:</a:t>
            </a:r>
          </a:p>
          <a:p>
            <a:pPr lvl="1" algn="r" rtl="1"/>
            <a:r>
              <a:rPr lang="fa-IR" dirty="0"/>
              <a:t>سهولت تفسیر </a:t>
            </a:r>
            <a:r>
              <a:rPr lang="fa-IR" dirty="0" err="1"/>
              <a:t>خروجی‌ها</a:t>
            </a:r>
            <a:endParaRPr lang="fa-IR" dirty="0"/>
          </a:p>
          <a:p>
            <a:pPr lvl="1" algn="r" rtl="1"/>
            <a:r>
              <a:rPr lang="fa-IR" dirty="0"/>
              <a:t>زمان محاسبه</a:t>
            </a:r>
          </a:p>
          <a:p>
            <a:pPr lvl="1" algn="r" rtl="1"/>
            <a:r>
              <a:rPr lang="fa-IR" dirty="0"/>
              <a:t>قدرت </a:t>
            </a:r>
            <a:r>
              <a:rPr lang="fa-IR" dirty="0" err="1"/>
              <a:t>پیش‌بینی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13566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B395-8ECE-72F2-2506-03E68D01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95BEB-BE4B-DC89-3F85-B4B94316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sz="4400" b="1" dirty="0" err="1"/>
              <a:t>الگوریتم</a:t>
            </a:r>
            <a:r>
              <a:rPr lang="fa-IR" sz="4400" b="1" dirty="0"/>
              <a:t> </a:t>
            </a:r>
            <a:r>
              <a:rPr lang="en-GB" sz="4400" b="1" dirty="0"/>
              <a:t>k-</a:t>
            </a:r>
            <a:r>
              <a:rPr lang="fa-IR" sz="4400" b="1" dirty="0" err="1"/>
              <a:t>نزدیک‌ترین</a:t>
            </a:r>
            <a:r>
              <a:rPr lang="fa-IR" sz="4400" b="1" dirty="0"/>
              <a:t> همسایگی چگونه کار </a:t>
            </a:r>
            <a:r>
              <a:rPr lang="fa-IR" sz="4400" b="1" dirty="0" err="1"/>
              <a:t>می‌کند</a:t>
            </a:r>
            <a:r>
              <a:rPr lang="fa-IR" sz="4400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C896D-DCEC-76D9-1B48-6E2F1DE9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/>
              <a:t>در شکل ۱ نحوه توزیع </a:t>
            </a:r>
            <a:r>
              <a:rPr lang="fa-IR" dirty="0" err="1"/>
              <a:t>دایره‌های</a:t>
            </a:r>
            <a:r>
              <a:rPr lang="fa-IR" dirty="0"/>
              <a:t> قرمز </a:t>
            </a:r>
            <a:r>
              <a:rPr lang="en-GB" dirty="0"/>
              <a:t>RC </a:t>
            </a:r>
            <a:r>
              <a:rPr lang="fa-IR" dirty="0"/>
              <a:t>و </a:t>
            </a:r>
            <a:r>
              <a:rPr lang="fa-IR" dirty="0" err="1"/>
              <a:t>مربع‌های</a:t>
            </a:r>
            <a:r>
              <a:rPr lang="fa-IR" dirty="0"/>
              <a:t> سبز</a:t>
            </a:r>
            <a:r>
              <a:rPr lang="en-GB" dirty="0"/>
              <a:t>GS </a:t>
            </a:r>
            <a:r>
              <a:rPr lang="fa-IR" dirty="0"/>
              <a:t>را مشاهده </a:t>
            </a:r>
            <a:r>
              <a:rPr lang="fa-IR" dirty="0" err="1"/>
              <a:t>می‌کنید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endParaRPr lang="fa-I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BF8C00C-9164-BFB9-65EB-89D8A6D9F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731" y="2601047"/>
            <a:ext cx="7694576" cy="336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82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B871-83A1-62CC-408B-4B49B87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4767-72EB-15A4-B0F0-86BF4F22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sz="4400" b="1" dirty="0" err="1"/>
              <a:t>الگوریتم</a:t>
            </a:r>
            <a:r>
              <a:rPr lang="fa-IR" sz="4400" b="1" dirty="0"/>
              <a:t> </a:t>
            </a:r>
            <a:r>
              <a:rPr lang="en-GB" sz="4400" b="1" dirty="0"/>
              <a:t>k-</a:t>
            </a:r>
            <a:r>
              <a:rPr lang="fa-IR" sz="4400" b="1" dirty="0" err="1"/>
              <a:t>نزدیک‌ترین</a:t>
            </a:r>
            <a:r>
              <a:rPr lang="fa-IR" sz="4400" b="1" dirty="0"/>
              <a:t> همسایگی چگونه کار </a:t>
            </a:r>
            <a:r>
              <a:rPr lang="fa-IR" sz="4400" b="1" dirty="0" err="1"/>
              <a:t>می‌کند</a:t>
            </a:r>
            <a:r>
              <a:rPr lang="fa-IR" sz="4400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8330-2B12-DE4C-56A0-A0C3E6EB1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/>
              <a:t>فرض کنید قصد پیدا کردن کلاسی که ستاره آبی </a:t>
            </a:r>
            <a:r>
              <a:rPr lang="en-US" dirty="0"/>
              <a:t> </a:t>
            </a:r>
            <a:r>
              <a:rPr lang="en-GB" dirty="0"/>
              <a:t>BS</a:t>
            </a:r>
            <a:r>
              <a:rPr lang="fa-IR" dirty="0"/>
              <a:t>متعلق به آن است را دارید (یعنی </a:t>
            </a:r>
            <a:r>
              <a:rPr lang="fa-IR" dirty="0" err="1"/>
              <a:t>دایره‌های</a:t>
            </a:r>
            <a:r>
              <a:rPr lang="fa-IR" dirty="0"/>
              <a:t> قرمز). در این مثال در کل دو کلاس </a:t>
            </a:r>
            <a:r>
              <a:rPr lang="fa-IR" dirty="0" err="1"/>
              <a:t>دایره‌های</a:t>
            </a:r>
            <a:r>
              <a:rPr lang="fa-IR" dirty="0"/>
              <a:t> قرمز و </a:t>
            </a:r>
            <a:r>
              <a:rPr lang="fa-IR" dirty="0" err="1"/>
              <a:t>مربع‌های</a:t>
            </a:r>
            <a:r>
              <a:rPr lang="fa-IR" dirty="0"/>
              <a:t> سبز وجود دارند و ستاره آبی بر اساس منطق کلاسیک </a:t>
            </a:r>
            <a:r>
              <a:rPr lang="fa-IR" dirty="0" err="1"/>
              <a:t>می‌تواند</a:t>
            </a:r>
            <a:r>
              <a:rPr lang="fa-IR" dirty="0"/>
              <a:t> تنها متعلق به یکی از این دو کلاس باشد. «</a:t>
            </a:r>
            <a:r>
              <a:rPr lang="en-GB" dirty="0"/>
              <a:t>K» </a:t>
            </a:r>
            <a:r>
              <a:rPr lang="fa-IR" dirty="0"/>
              <a:t>در </a:t>
            </a:r>
            <a:r>
              <a:rPr lang="fa-IR" dirty="0" err="1"/>
              <a:t>الگوریتم</a:t>
            </a:r>
            <a:r>
              <a:rPr lang="fa-IR" dirty="0"/>
              <a:t> </a:t>
            </a:r>
            <a:r>
              <a:rPr lang="en-GB" dirty="0"/>
              <a:t>k</a:t>
            </a:r>
            <a:r>
              <a:rPr lang="fa-IR" dirty="0"/>
              <a:t> </a:t>
            </a:r>
            <a:r>
              <a:rPr lang="fa-IR" dirty="0" err="1"/>
              <a:t>نزدیک‌ترین</a:t>
            </a:r>
            <a:r>
              <a:rPr lang="fa-IR" dirty="0"/>
              <a:t> همسایگی، تعداد </a:t>
            </a:r>
            <a:r>
              <a:rPr lang="fa-IR" dirty="0" err="1"/>
              <a:t>نزدیک‌ترین</a:t>
            </a:r>
            <a:r>
              <a:rPr lang="fa-IR" dirty="0"/>
              <a:t> </a:t>
            </a:r>
            <a:r>
              <a:rPr lang="fa-IR" dirty="0" err="1"/>
              <a:t>همسایه‌هایی</a:t>
            </a:r>
            <a:r>
              <a:rPr lang="fa-IR" dirty="0"/>
              <a:t> است که بر اساس </a:t>
            </a:r>
            <a:r>
              <a:rPr lang="fa-IR" dirty="0" err="1"/>
              <a:t>آن‌ها</a:t>
            </a:r>
            <a:r>
              <a:rPr lang="fa-IR" dirty="0"/>
              <a:t> </a:t>
            </a:r>
            <a:r>
              <a:rPr lang="fa-IR" dirty="0" err="1"/>
              <a:t>رأی‌گیری</a:t>
            </a:r>
            <a:r>
              <a:rPr lang="fa-IR" dirty="0"/>
              <a:t> درباره وضعیت تعلق یک نمونه داده به </a:t>
            </a:r>
            <a:r>
              <a:rPr lang="fa-IR" dirty="0" err="1"/>
              <a:t>کلاس‌های</a:t>
            </a:r>
            <a:r>
              <a:rPr lang="fa-IR" dirty="0"/>
              <a:t> موجود انجام </a:t>
            </a:r>
            <a:r>
              <a:rPr lang="fa-IR" dirty="0" err="1"/>
              <a:t>می‌شود</a:t>
            </a:r>
            <a:r>
              <a:rPr lang="fa-IR" dirty="0"/>
              <a:t>. فرض کنید </a:t>
            </a:r>
            <a:r>
              <a:rPr lang="en-GB" dirty="0"/>
              <a:t>k </a:t>
            </a:r>
            <a:r>
              <a:rPr lang="fa-IR" dirty="0"/>
              <a:t>برابر</a:t>
            </a:r>
            <a:r>
              <a:rPr lang="en-GB" dirty="0"/>
              <a:t> </a:t>
            </a:r>
            <a:r>
              <a:rPr lang="fa-IR" dirty="0"/>
              <a:t>۳ است. یک دایره آبی دور سه تا از </a:t>
            </a:r>
            <a:r>
              <a:rPr lang="fa-IR" dirty="0" err="1"/>
              <a:t>نزدیک‌ترین</a:t>
            </a:r>
            <a:r>
              <a:rPr lang="fa-IR" dirty="0"/>
              <a:t> </a:t>
            </a:r>
            <a:r>
              <a:rPr lang="fa-IR" dirty="0" err="1"/>
              <a:t>همسایه‌های</a:t>
            </a:r>
            <a:r>
              <a:rPr lang="fa-IR" dirty="0"/>
              <a:t> ستاره آبی ترسیم شده (شکل ۲) است. برای </a:t>
            </a:r>
            <a:r>
              <a:rPr lang="fa-IR" dirty="0" err="1"/>
              <a:t>جزئيات</a:t>
            </a:r>
            <a:r>
              <a:rPr lang="fa-IR" dirty="0"/>
              <a:t> بیشتر نمودار شکل ۲ را نگاه کنید.</a:t>
            </a:r>
          </a:p>
          <a:p>
            <a:pPr algn="r" rtl="1"/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endParaRPr lang="fa-IR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A3D1998-9D69-E880-A92B-F77E899DF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774" y="3660239"/>
            <a:ext cx="5738185" cy="251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A1B61-D239-67C3-7EE0-DBD045608D53}"/>
              </a:ext>
            </a:extLst>
          </p:cNvPr>
          <p:cNvSpPr txBox="1"/>
          <p:nvPr/>
        </p:nvSpPr>
        <p:spPr>
          <a:xfrm>
            <a:off x="6741042" y="3990616"/>
            <a:ext cx="43811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سه نقطه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نزدیک‌تر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به </a:t>
            </a:r>
            <a:r>
              <a:rPr lang="en-GB" b="0" i="0" dirty="0">
                <a:solidFill>
                  <a:srgbClr val="1C1917"/>
                </a:solidFill>
                <a:effectLst/>
                <a:latin typeface="Vazirmatn"/>
              </a:rPr>
              <a:t>BS، 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همه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دایره‌های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هستند. با میزان اطمینان خوبی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می‌توان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گفت که ستاره </a:t>
            </a:r>
            <a:r>
              <a:rPr lang="fa-IR" dirty="0" err="1">
                <a:solidFill>
                  <a:srgbClr val="1C1917"/>
                </a:solidFill>
                <a:latin typeface="Vazirmatn"/>
              </a:rPr>
              <a:t>قرمزآبی</a:t>
            </a:r>
            <a:r>
              <a:rPr lang="fa-IR" dirty="0">
                <a:solidFill>
                  <a:srgbClr val="1C1917"/>
                </a:solidFill>
                <a:latin typeface="Vazirmatn"/>
              </a:rPr>
              <a:t> 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به کلاس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دایره‌های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قرمز تعلق دارد. در این مثال، انتخاب بسیار آسان است چون هر سه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نزدیک‌ترین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همسایه ستاره آبی،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دایره‌های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قرمز هستند و در واقع هر سه رأی متعلق به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دایره‌های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قرمز است. انتخاب پارامتر </a:t>
            </a:r>
            <a:r>
              <a:rPr lang="en-GB" b="0" i="0" dirty="0">
                <a:solidFill>
                  <a:srgbClr val="1C1917"/>
                </a:solidFill>
                <a:effectLst/>
                <a:latin typeface="Vazirmatn"/>
              </a:rPr>
              <a:t>k 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در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الگوریتم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</a:t>
            </a:r>
            <a:r>
              <a:rPr lang="en-GB" b="0" i="0" dirty="0">
                <a:solidFill>
                  <a:srgbClr val="1C1917"/>
                </a:solidFill>
                <a:effectLst/>
                <a:latin typeface="Vazirmatn"/>
              </a:rPr>
              <a:t>k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نزدیک‌ترین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 همسایگی، بسیار حائز اهمیت است. در ادامه عوامل تأثیرگذار بر انتخاب بهترین </a:t>
            </a:r>
            <a:r>
              <a:rPr lang="en-GB" b="0" i="0" dirty="0">
                <a:solidFill>
                  <a:srgbClr val="1C1917"/>
                </a:solidFill>
                <a:effectLst/>
                <a:latin typeface="Vazirmatn"/>
              </a:rPr>
              <a:t>k، 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مورد بررسی قرار </a:t>
            </a:r>
            <a:r>
              <a:rPr lang="fa-IR" b="0" i="0" dirty="0" err="1">
                <a:solidFill>
                  <a:srgbClr val="1C1917"/>
                </a:solidFill>
                <a:effectLst/>
                <a:latin typeface="Vazirmatn"/>
              </a:rPr>
              <a:t>می‌گیرند</a:t>
            </a:r>
            <a:r>
              <a:rPr lang="fa-IR" b="0" i="0" dirty="0">
                <a:solidFill>
                  <a:srgbClr val="1C1917"/>
                </a:solidFill>
                <a:effectLst/>
                <a:latin typeface="Vazirmatn"/>
              </a:rPr>
              <a:t>.</a:t>
            </a:r>
          </a:p>
          <a:p>
            <a:pPr algn="r" rtl="1">
              <a:buNone/>
            </a:pP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1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C95B-3ABC-6587-F1B4-B5820F55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E871-19DB-505D-4B8D-C8BE4F36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b="1" dirty="0"/>
              <a:t>پارامتر </a:t>
            </a:r>
            <a:r>
              <a:rPr lang="en-GB" b="1" dirty="0"/>
              <a:t>k </a:t>
            </a:r>
            <a:r>
              <a:rPr lang="fa-IR" b="1" dirty="0"/>
              <a:t>چگونه انتخاب </a:t>
            </a:r>
            <a:r>
              <a:rPr lang="fa-IR" b="1" dirty="0" err="1"/>
              <a:t>می‌شود</a:t>
            </a:r>
            <a:r>
              <a:rPr lang="fa-IR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EA61-7A2E-C0B0-CE86-ED9B79047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/>
              <a:t>در ابتدا بهتر است تأثیر انتخاب </a:t>
            </a:r>
            <a:r>
              <a:rPr lang="en-GB" dirty="0"/>
              <a:t>k </a:t>
            </a:r>
            <a:r>
              <a:rPr lang="fa-IR" dirty="0"/>
              <a:t> در </a:t>
            </a:r>
            <a:r>
              <a:rPr lang="fa-IR" dirty="0" err="1"/>
              <a:t>الگوریتم</a:t>
            </a:r>
            <a:r>
              <a:rPr lang="fa-IR" dirty="0"/>
              <a:t> </a:t>
            </a:r>
            <a:r>
              <a:rPr lang="en-GB" dirty="0"/>
              <a:t>k</a:t>
            </a:r>
            <a:r>
              <a:rPr lang="fa-IR" dirty="0"/>
              <a:t> </a:t>
            </a:r>
            <a:r>
              <a:rPr lang="fa-IR" dirty="0" err="1"/>
              <a:t>نزدیک‌ترین</a:t>
            </a:r>
            <a:r>
              <a:rPr lang="fa-IR" dirty="0"/>
              <a:t> همسایگی بر نتایج خروجی مورد بررسی قرار بگیرد. اگر به مثال پیشین توجه کنید، </a:t>
            </a:r>
            <a:r>
              <a:rPr lang="fa-IR" dirty="0" err="1"/>
              <a:t>می‌بینید</a:t>
            </a:r>
            <a:r>
              <a:rPr lang="fa-IR" dirty="0"/>
              <a:t> که هر شش نمونه (</a:t>
            </a:r>
            <a:r>
              <a:rPr lang="fa-IR" dirty="0" err="1"/>
              <a:t>دایره‌های</a:t>
            </a:r>
            <a:r>
              <a:rPr lang="fa-IR" dirty="0"/>
              <a:t> قرمز و </a:t>
            </a:r>
            <a:r>
              <a:rPr lang="fa-IR" dirty="0" err="1"/>
              <a:t>مستطیل‌های</a:t>
            </a:r>
            <a:r>
              <a:rPr lang="fa-IR" dirty="0"/>
              <a:t> سبز) ثابت هستند و تنها انتخاب </a:t>
            </a:r>
            <a:r>
              <a:rPr lang="en-GB" dirty="0"/>
              <a:t>k </a:t>
            </a:r>
            <a:r>
              <a:rPr lang="fa-IR" dirty="0" err="1"/>
              <a:t>می‌تواند</a:t>
            </a:r>
            <a:r>
              <a:rPr lang="fa-IR" dirty="0"/>
              <a:t> مرزهای یک کلاس را دستخوش تغییر کند.</a:t>
            </a:r>
          </a:p>
          <a:p>
            <a:pPr algn="r" rtl="1"/>
            <a:r>
              <a:rPr lang="fa-IR" dirty="0"/>
              <a:t>در ادامه مرزهای دو کلاس که با انتخاب </a:t>
            </a:r>
            <a:r>
              <a:rPr lang="en-GB" dirty="0"/>
              <a:t>k‌</a:t>
            </a:r>
            <a:r>
              <a:rPr lang="fa-IR" dirty="0"/>
              <a:t>های گوناگون تغییر پیدا </a:t>
            </a:r>
            <a:r>
              <a:rPr lang="fa-IR" dirty="0" err="1"/>
              <a:t>می‌کنند</a:t>
            </a:r>
            <a:r>
              <a:rPr lang="fa-IR" dirty="0"/>
              <a:t> (شکل ۳) را مشاهده </a:t>
            </a:r>
            <a:r>
              <a:rPr lang="fa-IR" dirty="0" err="1"/>
              <a:t>می‌کنید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endParaRPr lang="fa-IR" dirty="0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E8FF54F1-3E0D-BF5E-7062-9A666E265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022" y="3429000"/>
            <a:ext cx="6311917" cy="289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14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FFBFF-4C14-3044-27D5-2F9A7BFF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ABDF6-C3FE-F8CB-9CEB-D16F61D8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b="1" dirty="0"/>
              <a:t>پارامتر </a:t>
            </a:r>
            <a:r>
              <a:rPr lang="en-GB" b="1" dirty="0"/>
              <a:t>k </a:t>
            </a:r>
            <a:r>
              <a:rPr lang="fa-IR" b="1" dirty="0"/>
              <a:t>چگونه انتخاب </a:t>
            </a:r>
            <a:r>
              <a:rPr lang="fa-IR" b="1" dirty="0" err="1"/>
              <a:t>می‌شود</a:t>
            </a:r>
            <a:r>
              <a:rPr lang="fa-IR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B106C-AAA8-3C41-B49D-2A29D42E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 err="1"/>
              <a:t>همان‌طور</a:t>
            </a:r>
            <a:r>
              <a:rPr lang="fa-IR" dirty="0"/>
              <a:t> که از تصاویر مشهود است، با افزایش مقدار  </a:t>
            </a:r>
            <a:r>
              <a:rPr lang="en-GB" dirty="0"/>
              <a:t>k، </a:t>
            </a:r>
            <a:r>
              <a:rPr lang="fa-IR" dirty="0"/>
              <a:t>مرزهای </a:t>
            </a:r>
            <a:r>
              <a:rPr lang="fa-IR" dirty="0" err="1"/>
              <a:t>کلاس‌ها</a:t>
            </a:r>
            <a:r>
              <a:rPr lang="fa-IR" dirty="0"/>
              <a:t> </a:t>
            </a:r>
            <a:r>
              <a:rPr lang="fa-IR" dirty="0" err="1"/>
              <a:t>روان‌تر</a:t>
            </a:r>
            <a:r>
              <a:rPr lang="fa-IR" dirty="0"/>
              <a:t> </a:t>
            </a:r>
            <a:r>
              <a:rPr lang="fa-IR" dirty="0" err="1"/>
              <a:t>می‌شود</a:t>
            </a:r>
            <a:r>
              <a:rPr lang="fa-IR" dirty="0"/>
              <a:t>. با افزایش </a:t>
            </a:r>
            <a:r>
              <a:rPr lang="en-GB" dirty="0"/>
              <a:t>k </a:t>
            </a:r>
            <a:r>
              <a:rPr lang="fa-IR" dirty="0"/>
              <a:t>به سمت </a:t>
            </a:r>
            <a:r>
              <a:rPr lang="fa-IR" dirty="0" err="1"/>
              <a:t>بی‌نهایت</a:t>
            </a:r>
            <a:r>
              <a:rPr lang="fa-IR" dirty="0"/>
              <a:t>، بسته به اکثریت </a:t>
            </a:r>
            <a:r>
              <a:rPr lang="fa-IR" dirty="0" err="1"/>
              <a:t>مطلق</a:t>
            </a:r>
            <a:r>
              <a:rPr lang="fa-IR" dirty="0"/>
              <a:t> </a:t>
            </a:r>
            <a:r>
              <a:rPr lang="fa-IR" dirty="0" err="1"/>
              <a:t>نمونه‌ها</a:t>
            </a:r>
            <a:r>
              <a:rPr lang="fa-IR" dirty="0"/>
              <a:t> در نهایت یک کلاس آبی یا قرمز وجود خواهد داشت. نرخ خطاهای آموزش و ارزیابی</a:t>
            </a:r>
            <a:r>
              <a:rPr lang="en-GB" dirty="0"/>
              <a:t> </a:t>
            </a:r>
            <a:r>
              <a:rPr lang="fa-IR" dirty="0"/>
              <a:t>دو عاملی هستند که برای تعیین مقدار </a:t>
            </a:r>
            <a:r>
              <a:rPr lang="en-GB" dirty="0"/>
              <a:t>k </a:t>
            </a:r>
            <a:r>
              <a:rPr lang="fa-IR" dirty="0"/>
              <a:t> مناسب به </a:t>
            </a:r>
            <a:r>
              <a:rPr lang="fa-IR" dirty="0" err="1"/>
              <a:t>آن‌ها</a:t>
            </a:r>
            <a:r>
              <a:rPr lang="fa-IR" dirty="0"/>
              <a:t> نیاز داریم. نمودار خطی در شکل ۴ بر اساس مقدار خطای آموزش برای </a:t>
            </a:r>
            <a:r>
              <a:rPr lang="en-GB" dirty="0"/>
              <a:t>k‌</a:t>
            </a:r>
            <a:r>
              <a:rPr lang="fa-IR" dirty="0"/>
              <a:t>های گوناگون ترسیم شده است.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6C259F-D836-CD75-884F-3DE1BE115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10" y="3294742"/>
            <a:ext cx="6549160" cy="298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204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6801-5F6A-73E6-85C7-23AD07D7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CE09-759D-A775-ECEE-7A6BA616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b="1" dirty="0"/>
              <a:t>پارامتر </a:t>
            </a:r>
            <a:r>
              <a:rPr lang="en-GB" b="1" dirty="0"/>
              <a:t>k </a:t>
            </a:r>
            <a:r>
              <a:rPr lang="fa-IR" b="1" dirty="0"/>
              <a:t>چگونه انتخاب </a:t>
            </a:r>
            <a:r>
              <a:rPr lang="fa-IR" b="1" dirty="0" err="1"/>
              <a:t>می‌شود</a:t>
            </a:r>
            <a:r>
              <a:rPr lang="fa-IR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A9EFC-AE5C-C72A-9C51-38F323B20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 err="1"/>
              <a:t>چنان‌که</a:t>
            </a:r>
            <a:r>
              <a:rPr lang="fa-IR" dirty="0"/>
              <a:t> مشاهده </a:t>
            </a:r>
            <a:r>
              <a:rPr lang="fa-IR" dirty="0" err="1"/>
              <a:t>می‌کنید</a:t>
            </a:r>
            <a:r>
              <a:rPr lang="fa-IR" dirty="0"/>
              <a:t>، نرخ خطا </a:t>
            </a:r>
            <a:r>
              <a:rPr lang="fa-IR" dirty="0" err="1"/>
              <a:t>هنگامی‌که</a:t>
            </a:r>
            <a:r>
              <a:rPr lang="fa-IR" dirty="0"/>
              <a:t> </a:t>
            </a:r>
            <a:r>
              <a:rPr lang="en-GB" dirty="0"/>
              <a:t>k </a:t>
            </a:r>
            <a:r>
              <a:rPr lang="fa-IR" dirty="0"/>
              <a:t>برابر</a:t>
            </a:r>
            <a:r>
              <a:rPr lang="en-GB" dirty="0"/>
              <a:t> </a:t>
            </a:r>
            <a:r>
              <a:rPr lang="fa-IR" dirty="0"/>
              <a:t>۱ است، برای </a:t>
            </a:r>
            <a:r>
              <a:rPr lang="fa-IR" dirty="0" err="1"/>
              <a:t>نمونه‌های</a:t>
            </a:r>
            <a:r>
              <a:rPr lang="fa-IR" dirty="0"/>
              <a:t> آموزش صفر باقی </a:t>
            </a:r>
            <a:r>
              <a:rPr lang="fa-IR" dirty="0" err="1"/>
              <a:t>می‌ماند</a:t>
            </a:r>
            <a:r>
              <a:rPr lang="fa-IR" dirty="0"/>
              <a:t>. این امر بدین دلیل است که </a:t>
            </a:r>
            <a:r>
              <a:rPr lang="fa-IR" dirty="0" err="1"/>
              <a:t>نزدیک‌ترین</a:t>
            </a:r>
            <a:r>
              <a:rPr lang="fa-IR" dirty="0"/>
              <a:t> نقطه به هر داده آموزش، خود آن داده است. بنابراین نتایج </a:t>
            </a:r>
            <a:r>
              <a:rPr lang="fa-IR" dirty="0" err="1"/>
              <a:t>پیش‌بینی</a:t>
            </a:r>
            <a:r>
              <a:rPr lang="fa-IR" dirty="0"/>
              <a:t> با </a:t>
            </a:r>
            <a:r>
              <a:rPr lang="en-GB" dirty="0"/>
              <a:t>k </a:t>
            </a:r>
            <a:r>
              <a:rPr lang="fa-IR" dirty="0"/>
              <a:t>برابر</a:t>
            </a:r>
            <a:r>
              <a:rPr lang="en-GB" dirty="0"/>
              <a:t> </a:t>
            </a:r>
            <a:r>
              <a:rPr lang="fa-IR" dirty="0"/>
              <a:t>۱ صحیح است. اگر </a:t>
            </a:r>
            <a:r>
              <a:rPr lang="en-GB" dirty="0"/>
              <a:t>k </a:t>
            </a:r>
            <a:r>
              <a:rPr lang="fa-IR" dirty="0"/>
              <a:t>برابر</a:t>
            </a:r>
            <a:r>
              <a:rPr lang="en-GB" dirty="0"/>
              <a:t> </a:t>
            </a:r>
            <a:r>
              <a:rPr lang="fa-IR" dirty="0"/>
              <a:t>۱ باشد نمودار خطای ارزیابی نیز روند مشابهی دارد. نمودار خطای ارزیابی با مقادیر گوناگون </a:t>
            </a:r>
            <a:r>
              <a:rPr lang="en-GB" dirty="0"/>
              <a:t>k </a:t>
            </a:r>
            <a:r>
              <a:rPr lang="fa-IR" dirty="0"/>
              <a:t>در شکل ۵ نمایش داده شده است.</a:t>
            </a:r>
            <a:br>
              <a:rPr lang="fa-IR" dirty="0"/>
            </a:br>
            <a:endParaRPr lang="fa-IR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62960958-5562-DD63-E9D8-2457C357E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338" y="3301761"/>
            <a:ext cx="6208918" cy="307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36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4A00-1841-B9E7-8BD2-1AE220C3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77AD-6E21-9766-A0A4-4B9C2878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b="1" dirty="0"/>
              <a:t>پارامتر </a:t>
            </a:r>
            <a:r>
              <a:rPr lang="en-GB" b="1" dirty="0"/>
              <a:t>k </a:t>
            </a:r>
            <a:r>
              <a:rPr lang="fa-IR" b="1" dirty="0"/>
              <a:t>چگونه انتخاب </a:t>
            </a:r>
            <a:r>
              <a:rPr lang="fa-IR" b="1" dirty="0" err="1"/>
              <a:t>می‌شود</a:t>
            </a:r>
            <a:r>
              <a:rPr lang="fa-IR" b="1" dirty="0"/>
              <a:t>؟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6FB0-9884-8F51-3826-383E439B6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/>
              <a:t>هنگامی که </a:t>
            </a:r>
            <a:r>
              <a:rPr lang="en-GB" dirty="0"/>
              <a:t>k </a:t>
            </a:r>
            <a:r>
              <a:rPr lang="fa-IR" dirty="0"/>
              <a:t>برابر</a:t>
            </a:r>
            <a:r>
              <a:rPr lang="en-GB" dirty="0"/>
              <a:t> </a:t>
            </a:r>
            <a:r>
              <a:rPr lang="fa-IR" dirty="0"/>
              <a:t>۱ است مرزها دچار بیش برازش </a:t>
            </a:r>
            <a:r>
              <a:rPr lang="en-GB" dirty="0"/>
              <a:t>overfit</a:t>
            </a:r>
            <a:r>
              <a:rPr lang="fa-IR" dirty="0" err="1"/>
              <a:t>شده‌اند</a:t>
            </a:r>
            <a:r>
              <a:rPr lang="fa-IR" dirty="0"/>
              <a:t>. بنابراین نرخ خطا کاهش پیدا کرده و در واقع به حداقل میزان خود </a:t>
            </a:r>
            <a:r>
              <a:rPr lang="fa-IR" dirty="0" err="1"/>
              <a:t>می‌رسد</a:t>
            </a:r>
            <a:r>
              <a:rPr lang="fa-IR" dirty="0"/>
              <a:t> و با افزایش </a:t>
            </a:r>
            <a:r>
              <a:rPr lang="en-GB" dirty="0"/>
              <a:t>k </a:t>
            </a:r>
            <a:r>
              <a:rPr lang="fa-IR" dirty="0"/>
              <a:t>مقدار خطا نیز افزایش پیدا </a:t>
            </a:r>
            <a:r>
              <a:rPr lang="fa-IR" dirty="0" err="1"/>
              <a:t>می‌کند</a:t>
            </a:r>
            <a:r>
              <a:rPr lang="fa-IR" dirty="0"/>
              <a:t>. برای انتخاب مقدار بهینه </a:t>
            </a:r>
            <a:r>
              <a:rPr lang="en-GB" dirty="0"/>
              <a:t>k </a:t>
            </a:r>
            <a:r>
              <a:rPr lang="fa-IR" dirty="0" err="1"/>
              <a:t>می‌توان</a:t>
            </a:r>
            <a:r>
              <a:rPr lang="fa-IR" dirty="0"/>
              <a:t> </a:t>
            </a:r>
            <a:r>
              <a:rPr lang="fa-IR" dirty="0" err="1"/>
              <a:t>داده‌های</a:t>
            </a:r>
            <a:r>
              <a:rPr lang="fa-IR" dirty="0"/>
              <a:t> آموزش و ارزیابی را از مجموعه داده اولیه جدا کرد. سپس با رسم نمودار مربوط به خطای ارزیابی مقدار بهینه </a:t>
            </a:r>
            <a:r>
              <a:rPr lang="en-GB" dirty="0"/>
              <a:t>K </a:t>
            </a:r>
            <a:r>
              <a:rPr lang="fa-IR" dirty="0"/>
              <a:t>را انتخاب کرد. این مقدار از </a:t>
            </a:r>
            <a:r>
              <a:rPr lang="en-GB" dirty="0"/>
              <a:t>k </a:t>
            </a:r>
            <a:r>
              <a:rPr lang="fa-IR" dirty="0"/>
              <a:t>باید برای همه </a:t>
            </a:r>
            <a:r>
              <a:rPr lang="fa-IR" dirty="0" err="1"/>
              <a:t>پیش‌بینی‌ها</a:t>
            </a:r>
            <a:r>
              <a:rPr lang="fa-IR" dirty="0"/>
              <a:t> مورد استفاده قرار بگیرد و در‌ واقع برای همه مراحل </a:t>
            </a:r>
            <a:r>
              <a:rPr lang="fa-IR" dirty="0" err="1"/>
              <a:t>پیش‌بینی</a:t>
            </a:r>
            <a:r>
              <a:rPr lang="fa-IR" dirty="0"/>
              <a:t> باید از یک </a:t>
            </a:r>
            <a:r>
              <a:rPr lang="en-GB" dirty="0"/>
              <a:t>k </a:t>
            </a:r>
            <a:r>
              <a:rPr lang="fa-IR" dirty="0"/>
              <a:t>مشخص استفاده شود.</a:t>
            </a:r>
          </a:p>
          <a:p>
            <a:pPr marL="0" indent="0" algn="r" rtl="1">
              <a:buNone/>
            </a:pPr>
            <a:br>
              <a:rPr lang="fa-IR" dirty="0"/>
            </a:br>
            <a:br>
              <a:rPr lang="fa-IR" dirty="0"/>
            </a:br>
            <a:endParaRPr lang="fa-IR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EE44916-5561-2A4A-85C4-ED80920D4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97" y="3619702"/>
            <a:ext cx="5884383" cy="290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9F369C-F285-7B01-E8D2-D2DFC3E960BF}"/>
              </a:ext>
            </a:extLst>
          </p:cNvPr>
          <p:cNvSpPr txBox="1"/>
          <p:nvPr/>
        </p:nvSpPr>
        <p:spPr>
          <a:xfrm>
            <a:off x="9044330" y="2360428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50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53</TotalTime>
  <Words>924</Words>
  <Application>Microsoft Macintosh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Al Bayan Plain</vt:lpstr>
      <vt:lpstr>Al Bayan Plain</vt:lpstr>
      <vt:lpstr>Arial</vt:lpstr>
      <vt:lpstr>Calibri</vt:lpstr>
      <vt:lpstr>Rockwell</vt:lpstr>
      <vt:lpstr>Rockwell Condensed</vt:lpstr>
      <vt:lpstr>Rockwell Extra Bold</vt:lpstr>
      <vt:lpstr>Vazirmatn</vt:lpstr>
      <vt:lpstr>Wingdings</vt:lpstr>
      <vt:lpstr>Wood Type</vt:lpstr>
      <vt:lpstr>Classification - KNN</vt:lpstr>
      <vt:lpstr>PowerPoint Presentation</vt:lpstr>
      <vt:lpstr>K Nearest Neighbours (KNN)</vt:lpstr>
      <vt:lpstr>K Nearest Neighbours (KNN)</vt:lpstr>
      <vt:lpstr>K Nearest Neighbours (KNN)</vt:lpstr>
      <vt:lpstr>K Nearest Neighbours (KNN)</vt:lpstr>
      <vt:lpstr>چه زمانی باید از الگوریتم k نزدیک‌ترین همسایگی استفاده کرد؟ </vt:lpstr>
      <vt:lpstr>الگوریتم k-نزدیک‌ترین همسایگی چگونه کار می‌کند؟</vt:lpstr>
      <vt:lpstr>الگوریتم k-نزدیک‌ترین همسایگی چگونه کار می‌کند؟</vt:lpstr>
      <vt:lpstr>پارامتر k چگونه انتخاب می‌شود؟</vt:lpstr>
      <vt:lpstr>پارامتر k چگونه انتخاب می‌شود؟</vt:lpstr>
      <vt:lpstr>پارامتر k چگونه انتخاب می‌شود؟</vt:lpstr>
      <vt:lpstr>پارامتر k چگونه انتخاب می‌شود؟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SMB H</dc:creator>
  <cp:lastModifiedBy>SMB H</cp:lastModifiedBy>
  <cp:revision>1</cp:revision>
  <dcterms:created xsi:type="dcterms:W3CDTF">2025-10-22T15:43:36Z</dcterms:created>
  <dcterms:modified xsi:type="dcterms:W3CDTF">2025-10-22T16:37:30Z</dcterms:modified>
</cp:coreProperties>
</file>